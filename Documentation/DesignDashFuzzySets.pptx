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Source Code Pr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3" name="Saadet Yilmaz"/>
  <p:cmAuthor clrIdx="1" id="1" initials="" lastIdx="12" name="Mercan Ese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SourceCodePro-bold.fntdata"/><Relationship Id="rId16" Type="http://schemas.openxmlformats.org/officeDocument/2006/relationships/font" Target="fonts/SourceCodePr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SourceCodePro-boldItalic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SourceCodePr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15T01:30:47.276">
    <p:pos x="793" y="1611"/>
    <p:text>Buraya ismimizi ve kendimizi represent yaptigini dusundugumuz bir resim koyabiliriz. Nilaylar ai ile kendilerini cizdirmiz mesela.</p:text>
  </p:cm>
  <p:cm authorId="1" idx="1" dt="2026-03-15T01:29:24.054">
    <p:pos x="793" y="1611"/>
    <p:text>illa mavi olacak</p:text>
  </p:cm>
  <p:cm authorId="1" idx="2" dt="2026-03-15T01:29:27.873">
    <p:pos x="793" y="1611"/>
    <p:text>agaggga</p:text>
  </p:cm>
  <p:cm authorId="1" idx="3" dt="2026-03-15T01:29:41.190">
    <p:pos x="793" y="1611"/>
    <p:text>ben aynı olsun dedim</p:text>
  </p:cm>
  <p:cm authorId="0" idx="2" dt="2026-03-15T01:29:52.116">
    <p:pos x="793" y="1611"/>
    <p:text>Ahahahahah evet</p:text>
  </p:cm>
  <p:cm authorId="0" idx="3" dt="2026-03-15T01:30:47.276">
    <p:pos x="793" y="1611"/>
    <p:text>Ay ben başta yanlışlıkla yaptın sandım ahahah sonra dedim yok neyse ben mavi istiyorum (charlie and the chocolate factory’deki şımarık kız)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3-14T22:37:43.340">
    <p:pos x="396" y="49"/>
    <p:text>Burada konumuzu circle'layacagiz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3-15T00:01:14.344">
    <p:pos x="396" y="49"/>
    <p:text>Bunu tam anladim mi emin degilim. intten bir bakalim tekrar ne istiyor</p:text>
  </p:cm>
  <p:cm authorId="1" idx="4" dt="2026-03-14T23:52:05.549">
    <p:pos x="396" y="49"/>
    <p:text>ben ablamla yaptım ablam şu an spor yapıyor 
istersen onalrın cevabını vereyim sana 
karşılaştır olur mu</p:text>
  </p:cm>
  <p:cm authorId="0" idx="6" dt="2026-03-14T23:53:41.768">
    <p:pos x="396" y="49"/>
    <p:text>ver ver onu da yazalim. ben de iki kisiye soruyorum</p:text>
  </p:cm>
  <p:cm authorId="1" idx="5" dt="2026-03-14T23:55:00.154">
    <p:pos x="396" y="49"/>
    <p:text>Exercise duration is irregular — ranges from 30 min to 90 min depending on the day
Feels "done" when every muscle group has been worked — very intuitive, not time-based
Biggest barrier: getting started (motivation/inertia)
When unsure how much to do → just keeps going (instinctive, not planned)
Measures fatigue through body signals and loss of desire to continue
Would trust an app's suggestions — but never uses one because they're all paid ← key insight!</p:text>
  </p:cm>
  <p:cm authorId="1" idx="6" dt="2026-03-14T23:58:07.410">
    <p:pos x="396" y="49"/>
    <p:text>şey yapabilir miyiz 2kişi eklemek sonuçta katılımcılar demiş</p:text>
  </p:cm>
  <p:cm authorId="1" idx="7" dt="2026-03-14T23:57:58.049">
    <p:pos x="396" y="49"/>
    <p:text>2 pardon</p:text>
  </p:cm>
  <p:cm authorId="0" idx="7" dt="2026-03-14T23:59:36.821">
    <p:pos x="396" y="49"/>
    <p:text>olur bence</p:text>
  </p:cm>
  <p:cm authorId="1" idx="8" dt="2026-03-15T00:00:34.694">
    <p:pos x="396" y="49"/>
    <p:text>aynı sayfaya mı eklenir</p:text>
  </p:cm>
  <p:cm authorId="0" idx="8" dt="2026-03-15T00:01:14.344">
    <p:pos x="396" y="49"/>
    <p:text>evet evet bu kalan kutucuklara ekle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3-14T23:34:51.450">
    <p:pos x="396" y="49"/>
    <p:text>Burasi interview yaptigimiz kisi ile alakali. normade baska gruptan biri ile diyor ( Nilaya sorabiliriz) veya hizli halletmek istiyorsak yakinimizda birilerine sorabiliriz. Benim su an birlikte kaldigim kisilerden birine sorabilirim mesela</p:text>
  </p:cm>
  <p:cm authorId="1" idx="9" dt="2026-03-14T22:43:18.459">
    <p:pos x="396" y="49"/>
    <p:text>birine sormuş gibi yaparız biz cevaplarız ya da sora da bilrisin</p:text>
  </p:cm>
  <p:cm authorId="1" idx="10" dt="2026-03-14T23:29:00.028">
    <p:pos x="396" y="49"/>
    <p:text>sordun mu</p:text>
  </p:cm>
  <p:cm authorId="0" idx="10" dt="2026-03-14T23:34:51.450">
    <p:pos x="396" y="49"/>
    <p:text>soracagim simdi</p:text>
  </p:cm>
  <p:cm authorId="0" idx="11" dt="2026-03-15T00:14:52.075">
    <p:pos x="398" y="2042"/>
    <p:text>buralara eklersin daha ekleyecek bir seyin olursa</p:text>
  </p:cm>
  <p:cm authorId="1" idx="11" dt="2026-03-15T00:13:28.541">
    <p:pos x="398" y="2042"/>
    <p:text>nereye</p:text>
  </p:cm>
  <p:cm authorId="0" idx="12" dt="2026-03-15T00:14:52.075">
    <p:pos x="398" y="2042"/>
    <p:text>Yorumun üstüne tıklayınca nereye yorum yapıldığını görebiliyorsun (şu alt kutucuklara diyordum ben burada)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6-03-15T00:20:52.409">
    <p:pos x="396" y="49"/>
    <p:text>Bu son slidelari ise brain storming olarak kullanabiliriz. iste bizim gelistirdigimiz sey mesela nasil bir islev gorecek onu skecleye de biliriz</p:text>
  </p:cm>
  <p:cm authorId="1" idx="12" dt="2026-03-15T00:20:52.409">
    <p:pos x="396" y="49"/>
    <p:text>ne yazacağımı bilmiyorum sen,n fikrin varsa ekle istersen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0193d8316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d0193d8316_2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0193d8316_2_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0193d8316_2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d0193d8316_2_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0193d8316_2_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0193d8316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d0193d8316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0193d8316_2_1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0193d8316_2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0193d8316_2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0193d8316_2_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0193d8316_2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0193d8316_2_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d0193d8316_2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0193d8316_2_2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0193d8316_2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29925" lIns="59850" spcFirstLastPara="1" rIns="59850" wrap="square" tIns="299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venir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78913"/>
            <a:ext cx="7886700" cy="61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  <a:defRPr sz="300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3543300" y="478294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786968"/>
            <a:ext cx="7886700" cy="8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cxnSp>
        <p:nvCxnSpPr>
          <p:cNvPr id="66" name="Google Shape;66;p15"/>
          <p:cNvCxnSpPr/>
          <p:nvPr/>
        </p:nvCxnSpPr>
        <p:spPr>
          <a:xfrm>
            <a:off x="-141988" y="660243"/>
            <a:ext cx="9797143" cy="0"/>
          </a:xfrm>
          <a:prstGeom prst="straightConnector1">
            <a:avLst/>
          </a:prstGeom>
          <a:noFill/>
          <a:ln cap="flat" cmpd="sng" w="666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venir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29925" lIns="59850" spcFirstLastPara="1" rIns="59850" wrap="square" tIns="29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1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29925" lIns="59850" spcFirstLastPara="1" rIns="59850" wrap="square" tIns="29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1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venir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1pPr>
            <a:lvl2pPr indent="-3937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2pPr>
            <a:lvl3pPr indent="-3683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venir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248" y="-942380"/>
            <a:ext cx="3263503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74" y="1467445"/>
            <a:ext cx="435887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574" y="-447080"/>
            <a:ext cx="435887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  <a:defRPr b="0" i="0" sz="4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>
            <a:lvl1pPr indent="-39370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65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65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65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65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65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65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8.png"/><Relationship Id="rId13" Type="http://schemas.openxmlformats.org/officeDocument/2006/relationships/image" Target="../media/image21.png"/><Relationship Id="rId12" Type="http://schemas.openxmlformats.org/officeDocument/2006/relationships/image" Target="../media/image6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4.xml"/><Relationship Id="rId4" Type="http://schemas.openxmlformats.org/officeDocument/2006/relationships/image" Target="../media/image8.png"/><Relationship Id="rId5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5.xml"/><Relationship Id="rId4" Type="http://schemas.openxmlformats.org/officeDocument/2006/relationships/image" Target="../media/image7.png"/><Relationship Id="rId5" Type="http://schemas.openxmlformats.org/officeDocument/2006/relationships/image" Target="../media/image2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ctrTitle"/>
          </p:nvPr>
        </p:nvSpPr>
        <p:spPr>
          <a:xfrm>
            <a:off x="311700" y="1954850"/>
            <a:ext cx="8520600" cy="8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Design Dash Document</a:t>
            </a:r>
            <a:endParaRPr b="1">
              <a:solidFill>
                <a:srgbClr val="07376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5" name="Google Shape;135;p26"/>
          <p:cNvSpPr txBox="1"/>
          <p:nvPr>
            <p:ph idx="1" type="subTitle"/>
          </p:nvPr>
        </p:nvSpPr>
        <p:spPr>
          <a:xfrm>
            <a:off x="311700" y="2834125"/>
            <a:ext cx="8520600" cy="10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Mercan Esen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Saadet </a:t>
            </a:r>
            <a:r>
              <a:rPr lang="en"/>
              <a:t>Yılmaz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Fuzzy Sets and Systems II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“Fuzzy Exercise Assistant”</a:t>
            </a:r>
            <a:endParaRPr i="1"/>
          </a:p>
        </p:txBody>
      </p:sp>
      <p:grpSp>
        <p:nvGrpSpPr>
          <p:cNvPr id="136" name="Google Shape;136;p26"/>
          <p:cNvGrpSpPr/>
          <p:nvPr/>
        </p:nvGrpSpPr>
        <p:grpSpPr>
          <a:xfrm>
            <a:off x="7443125" y="0"/>
            <a:ext cx="1700878" cy="1578375"/>
            <a:chOff x="6889750" y="254000"/>
            <a:chExt cx="1700878" cy="1578375"/>
          </a:xfrm>
        </p:grpSpPr>
        <p:sp>
          <p:nvSpPr>
            <p:cNvPr id="137" name="Google Shape;137;p26"/>
            <p:cNvSpPr/>
            <p:nvPr/>
          </p:nvSpPr>
          <p:spPr>
            <a:xfrm>
              <a:off x="6998600" y="254000"/>
              <a:ext cx="1592028" cy="1102140"/>
            </a:xfrm>
            <a:prstGeom prst="cloud">
              <a:avLst/>
            </a:prstGeom>
            <a:solidFill>
              <a:srgbClr val="9FC5E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7012225" y="1397000"/>
              <a:ext cx="381000" cy="190500"/>
            </a:xfrm>
            <a:prstGeom prst="ellipse">
              <a:avLst/>
            </a:prstGeom>
            <a:solidFill>
              <a:srgbClr val="9FC5E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6889750" y="1709975"/>
              <a:ext cx="217800" cy="122400"/>
            </a:xfrm>
            <a:prstGeom prst="ellipse">
              <a:avLst/>
            </a:prstGeom>
            <a:solidFill>
              <a:srgbClr val="9FC5E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26"/>
          <p:cNvGrpSpPr/>
          <p:nvPr/>
        </p:nvGrpSpPr>
        <p:grpSpPr>
          <a:xfrm flipH="1">
            <a:off x="10" y="66225"/>
            <a:ext cx="1700878" cy="1578375"/>
            <a:chOff x="6889750" y="254000"/>
            <a:chExt cx="1700878" cy="1578375"/>
          </a:xfrm>
        </p:grpSpPr>
        <p:sp>
          <p:nvSpPr>
            <p:cNvPr id="141" name="Google Shape;141;p26"/>
            <p:cNvSpPr/>
            <p:nvPr/>
          </p:nvSpPr>
          <p:spPr>
            <a:xfrm>
              <a:off x="6998600" y="254000"/>
              <a:ext cx="1592028" cy="1102140"/>
            </a:xfrm>
            <a:prstGeom prst="cloud">
              <a:avLst/>
            </a:prstGeom>
            <a:solidFill>
              <a:srgbClr val="D5A6B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7012225" y="1397000"/>
              <a:ext cx="381000" cy="190500"/>
            </a:xfrm>
            <a:prstGeom prst="ellipse">
              <a:avLst/>
            </a:prstGeom>
            <a:solidFill>
              <a:srgbClr val="D5A6B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6889750" y="1709975"/>
              <a:ext cx="217800" cy="122400"/>
            </a:xfrm>
            <a:prstGeom prst="ellipse">
              <a:avLst/>
            </a:prstGeom>
            <a:solidFill>
              <a:srgbClr val="D5A6BD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7349" y="125669"/>
            <a:ext cx="1870772" cy="73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1807567">
            <a:off x="7675494" y="768606"/>
            <a:ext cx="1124287" cy="70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936219">
            <a:off x="9889" y="646124"/>
            <a:ext cx="927918" cy="70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1235" y="360271"/>
            <a:ext cx="910978" cy="64239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/>
        </p:nvSpPr>
        <p:spPr>
          <a:xfrm>
            <a:off x="-23812" y="1400469"/>
            <a:ext cx="9144000" cy="845700"/>
          </a:xfrm>
          <a:prstGeom prst="rect">
            <a:avLst/>
          </a:prstGeom>
          <a:solidFill>
            <a:srgbClr val="FFF9EC"/>
          </a:solidFill>
          <a:ln>
            <a:noFill/>
          </a:ln>
        </p:spPr>
        <p:txBody>
          <a:bodyPr anchorCtr="0" anchor="ctr" bIns="235725" lIns="235725" spcFirstLastPara="1" rIns="235725" wrap="square" tIns="2357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7"/>
          <p:cNvSpPr/>
          <p:nvPr/>
        </p:nvSpPr>
        <p:spPr>
          <a:xfrm>
            <a:off x="105727" y="2246180"/>
            <a:ext cx="1998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TEAM MEMBERS</a:t>
            </a:r>
            <a:r>
              <a:rPr b="1"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2</a:t>
            </a:r>
            <a:endParaRPr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56" name="Google Shape;156;p27"/>
          <p:cNvGrpSpPr/>
          <p:nvPr/>
        </p:nvGrpSpPr>
        <p:grpSpPr>
          <a:xfrm>
            <a:off x="1260216" y="2558831"/>
            <a:ext cx="2420254" cy="1782618"/>
            <a:chOff x="387483" y="5531211"/>
            <a:chExt cx="2382609" cy="2340008"/>
          </a:xfrm>
        </p:grpSpPr>
        <p:sp>
          <p:nvSpPr>
            <p:cNvPr id="157" name="Google Shape;157;p27"/>
            <p:cNvSpPr/>
            <p:nvPr/>
          </p:nvSpPr>
          <p:spPr>
            <a:xfrm>
              <a:off x="387492" y="5531219"/>
              <a:ext cx="2382600" cy="2340000"/>
            </a:xfrm>
            <a:prstGeom prst="rect">
              <a:avLst/>
            </a:prstGeom>
            <a:solidFill>
              <a:srgbClr val="F4CCCC"/>
            </a:solidFill>
            <a:ln cap="flat" cmpd="sng" w="18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2550" lIns="85100" spcFirstLastPara="1" rIns="85100" wrap="square" tIns="425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7"/>
            <p:cNvSpPr txBox="1"/>
            <p:nvPr/>
          </p:nvSpPr>
          <p:spPr>
            <a:xfrm>
              <a:off x="387483" y="5531211"/>
              <a:ext cx="2340000" cy="4290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42550" lIns="85100" spcFirstLastPara="1" rIns="85100" wrap="square" tIns="425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64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Mercan</a:t>
              </a:r>
              <a:endParaRPr b="1" sz="1564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59" name="Google Shape;159;p27"/>
          <p:cNvGrpSpPr/>
          <p:nvPr/>
        </p:nvGrpSpPr>
        <p:grpSpPr>
          <a:xfrm>
            <a:off x="4949566" y="2558818"/>
            <a:ext cx="2556700" cy="1782627"/>
            <a:chOff x="2890362" y="5531212"/>
            <a:chExt cx="2340014" cy="2340020"/>
          </a:xfrm>
        </p:grpSpPr>
        <p:sp>
          <p:nvSpPr>
            <p:cNvPr id="160" name="Google Shape;160;p27"/>
            <p:cNvSpPr/>
            <p:nvPr/>
          </p:nvSpPr>
          <p:spPr>
            <a:xfrm>
              <a:off x="2890376" y="5531232"/>
              <a:ext cx="2340000" cy="2340000"/>
            </a:xfrm>
            <a:prstGeom prst="rect">
              <a:avLst/>
            </a:prstGeom>
            <a:solidFill>
              <a:srgbClr val="F4CCCC"/>
            </a:solidFill>
            <a:ln cap="flat" cmpd="sng" w="194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75" lIns="91550" spcFirstLastPara="1" rIns="91550" wrap="square" tIns="4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7"/>
            <p:cNvSpPr txBox="1"/>
            <p:nvPr/>
          </p:nvSpPr>
          <p:spPr>
            <a:xfrm>
              <a:off x="2890362" y="5531212"/>
              <a:ext cx="2340000" cy="4614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t" bIns="45775" lIns="91550" spcFirstLastPara="1" rIns="91550" wrap="square" tIns="4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83">
                  <a:solidFill>
                    <a:srgbClr val="073763"/>
                  </a:solidFill>
                  <a:latin typeface="Avenir"/>
                  <a:ea typeface="Avenir"/>
                  <a:cs typeface="Avenir"/>
                  <a:sym typeface="Avenir"/>
                </a:rPr>
                <a:t>Saadet</a:t>
              </a:r>
              <a:endParaRPr b="1" sz="1683">
                <a:solidFill>
                  <a:srgbClr val="073763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162" name="Google Shape;162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746282">
            <a:off x="312699" y="4064"/>
            <a:ext cx="1207018" cy="603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01114" y="861693"/>
            <a:ext cx="538266" cy="33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48560" y="875497"/>
            <a:ext cx="867132" cy="819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-740199">
            <a:off x="4825012" y="801090"/>
            <a:ext cx="737361" cy="705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 title="download.jpg"/>
          <p:cNvPicPr preferRelativeResize="0"/>
          <p:nvPr/>
        </p:nvPicPr>
        <p:blipFill rotWithShape="1">
          <a:blip r:embed="rId12">
            <a:alphaModFix/>
          </a:blip>
          <a:srcRect b="32304" l="7365" r="0" t="13146"/>
          <a:stretch/>
        </p:blipFill>
        <p:spPr>
          <a:xfrm>
            <a:off x="4949566" y="2856775"/>
            <a:ext cx="2556700" cy="15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 title="ChatGPT Image Mar 15, 2026, 12_18_30 AM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60225" y="2864638"/>
            <a:ext cx="2420250" cy="17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0" y="4559168"/>
            <a:ext cx="9144000" cy="722400"/>
          </a:xfrm>
          <a:prstGeom prst="rect">
            <a:avLst/>
          </a:prstGeom>
          <a:solidFill>
            <a:srgbClr val="FFF9EC"/>
          </a:solidFill>
          <a:ln>
            <a:noFill/>
          </a:ln>
        </p:spPr>
        <p:txBody>
          <a:bodyPr anchorCtr="0" anchor="ctr" bIns="235725" lIns="235725" spcFirstLastPara="1" rIns="235725" wrap="square" tIns="2357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628650" y="78913"/>
            <a:ext cx="7886700" cy="61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We are going to </a:t>
            </a:r>
            <a:r>
              <a:rPr lang="en"/>
              <a:t>REDESIGN</a:t>
            </a:r>
            <a:r>
              <a:rPr lang="en"/>
              <a:t>... </a:t>
            </a:r>
            <a:endParaRPr/>
          </a:p>
        </p:txBody>
      </p:sp>
      <p:sp>
        <p:nvSpPr>
          <p:cNvPr id="175" name="Google Shape;175;p28"/>
          <p:cNvSpPr txBox="1"/>
          <p:nvPr>
            <p:ph idx="4294967295" type="body"/>
          </p:nvPr>
        </p:nvSpPr>
        <p:spPr>
          <a:xfrm>
            <a:off x="943075" y="860075"/>
            <a:ext cx="3244200" cy="4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 lnSpcReduction="20000"/>
          </a:bodyPr>
          <a:lstStyle/>
          <a:p>
            <a:pPr indent="-482600" lvl="0" marL="482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Breakfast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Lunch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Dinner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Exercising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Meeting new people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Keeping in touch with old friends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Moving to a new house/apartment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Celebrating your birthday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Sleeping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Listening to music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Waking up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Commuting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Gardening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Volunteering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Watching TV/movies</a:t>
            </a:r>
            <a:endParaRPr/>
          </a:p>
          <a:p>
            <a:pPr indent="-4826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lang="en" sz="1000"/>
              <a:t>Planning a vacation</a:t>
            </a:r>
            <a:endParaRPr/>
          </a:p>
          <a:p>
            <a:pPr indent="-419100" lvl="0" marL="482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/>
          </a:p>
        </p:txBody>
      </p:sp>
      <p:sp>
        <p:nvSpPr>
          <p:cNvPr id="176" name="Google Shape;176;p28"/>
          <p:cNvSpPr txBox="1"/>
          <p:nvPr>
            <p:ph idx="4294967295" type="body"/>
          </p:nvPr>
        </p:nvSpPr>
        <p:spPr>
          <a:xfrm>
            <a:off x="4730298" y="860067"/>
            <a:ext cx="4067700" cy="4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-482600" lvl="0" marL="482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Being at the airport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Taking a road trip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Traveling in a country where you don’t know the language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Learning a new language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Grocery shopping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Doing the laundry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Reading the news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Recycling/composting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Cleaning your house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Giving gifts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Exploring your own city or town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Preserving memories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Personal style/beauty routine</a:t>
            </a:r>
            <a:endParaRPr sz="1000"/>
          </a:p>
          <a:p>
            <a:pPr indent="-4826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 startAt="17"/>
            </a:pPr>
            <a:r>
              <a:rPr lang="en" sz="1000"/>
              <a:t>Friday night</a:t>
            </a:r>
            <a:endParaRPr sz="1000"/>
          </a:p>
          <a:p>
            <a:pPr indent="-4191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/>
          </a:p>
          <a:p>
            <a:pPr indent="-4191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/>
          </a:p>
          <a:p>
            <a:pPr indent="-419100" lvl="0" marL="48260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/>
          </a:p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3533869" y="488668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4274" y="89133"/>
            <a:ext cx="974854" cy="48742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/>
          <p:nvPr/>
        </p:nvSpPr>
        <p:spPr>
          <a:xfrm>
            <a:off x="1335975" y="1610806"/>
            <a:ext cx="888900" cy="222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CE5CD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628650" y="78913"/>
            <a:ext cx="7886700" cy="61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Getting to know our TEAM</a:t>
            </a:r>
            <a:endParaRPr/>
          </a:p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3543300" y="478294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628650" y="786968"/>
            <a:ext cx="7886700" cy="8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/>
              <a:t>3 ways we connect to this topic…</a:t>
            </a:r>
            <a:endParaRPr/>
          </a:p>
        </p:txBody>
      </p:sp>
      <p:sp>
        <p:nvSpPr>
          <p:cNvPr id="188" name="Google Shape;188;p29"/>
          <p:cNvSpPr txBox="1"/>
          <p:nvPr/>
        </p:nvSpPr>
        <p:spPr>
          <a:xfrm>
            <a:off x="649561" y="1905460"/>
            <a:ext cx="16713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2485975" y="1463775"/>
            <a:ext cx="56454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#</a:t>
            </a: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Exercise is an important part of my daily life and personal routine.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#</a:t>
            </a: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I feel relaxed and mentally peaceful when I exercise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#  Helping people make exercise part of their lifestyle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2482100" y="3006675"/>
            <a:ext cx="5472600" cy="12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# </a:t>
            </a: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Love sports!</a:t>
            </a:r>
            <a:endParaRPr sz="9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# </a:t>
            </a: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Want to have a healthy lifestyle!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# </a:t>
            </a:r>
            <a:r>
              <a:rPr lang="en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 believe exercises are not “one fits all” - it must be flexible depending on one’s needs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7149119" y="4828589"/>
            <a:ext cx="271046" cy="20328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7502983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7817229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8131476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8445722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8759969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4696" y="34989"/>
            <a:ext cx="810898" cy="6161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29"/>
          <p:cNvGrpSpPr/>
          <p:nvPr/>
        </p:nvGrpSpPr>
        <p:grpSpPr>
          <a:xfrm>
            <a:off x="628649" y="3006595"/>
            <a:ext cx="1671472" cy="1253549"/>
            <a:chOff x="2890362" y="5531212"/>
            <a:chExt cx="2340014" cy="2340020"/>
          </a:xfrm>
        </p:grpSpPr>
        <p:sp>
          <p:nvSpPr>
            <p:cNvPr id="199" name="Google Shape;199;p29"/>
            <p:cNvSpPr/>
            <p:nvPr/>
          </p:nvSpPr>
          <p:spPr>
            <a:xfrm>
              <a:off x="2890376" y="5531232"/>
              <a:ext cx="2340000" cy="2340000"/>
            </a:xfrm>
            <a:prstGeom prst="rect">
              <a:avLst/>
            </a:prstGeom>
            <a:solidFill>
              <a:srgbClr val="CFE2F3"/>
            </a:solidFill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29925" lIns="59850" spcFirstLastPara="1" rIns="59850" wrap="square" tIns="29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9"/>
            <p:cNvSpPr txBox="1"/>
            <p:nvPr/>
          </p:nvSpPr>
          <p:spPr>
            <a:xfrm>
              <a:off x="2890362" y="5531212"/>
              <a:ext cx="2340000" cy="4290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t" bIns="29925" lIns="59850" spcFirstLastPara="1" rIns="59850" wrap="square" tIns="299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73763"/>
                  </a:solidFill>
                  <a:latin typeface="Avenir"/>
                  <a:ea typeface="Avenir"/>
                  <a:cs typeface="Avenir"/>
                  <a:sym typeface="Avenir"/>
                </a:rPr>
                <a:t>Saadet</a:t>
              </a:r>
              <a:endParaRPr b="1" sz="1100">
                <a:solidFill>
                  <a:srgbClr val="073763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01" name="Google Shape;201;p29"/>
          <p:cNvGrpSpPr/>
          <p:nvPr/>
        </p:nvGrpSpPr>
        <p:grpSpPr>
          <a:xfrm>
            <a:off x="628677" y="1485600"/>
            <a:ext cx="1732236" cy="1253315"/>
            <a:chOff x="387483" y="5531211"/>
            <a:chExt cx="2382718" cy="2340021"/>
          </a:xfrm>
        </p:grpSpPr>
        <p:sp>
          <p:nvSpPr>
            <p:cNvPr id="202" name="Google Shape;202;p29"/>
            <p:cNvSpPr/>
            <p:nvPr/>
          </p:nvSpPr>
          <p:spPr>
            <a:xfrm>
              <a:off x="430200" y="5531232"/>
              <a:ext cx="2340000" cy="2340000"/>
            </a:xfrm>
            <a:prstGeom prst="rect">
              <a:avLst/>
            </a:prstGeom>
            <a:solidFill>
              <a:srgbClr val="F4CCCC"/>
            </a:solidFill>
            <a:ln cap="flat" cmpd="sng" w="129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30450" lIns="60900" spcFirstLastPara="1" rIns="60900" wrap="square" tIns="30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9"/>
            <p:cNvSpPr txBox="1"/>
            <p:nvPr/>
          </p:nvSpPr>
          <p:spPr>
            <a:xfrm>
              <a:off x="387483" y="5531211"/>
              <a:ext cx="2340000" cy="436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30450" lIns="60900" spcFirstLastPara="1" rIns="60900" wrap="square" tIns="304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Mercan</a:t>
              </a:r>
              <a:endParaRPr b="1" sz="112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204" name="Google Shape;204;p29" title="ChatGPT Image Mar 15, 2026, 12_18_30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800" y="1744125"/>
            <a:ext cx="1732224" cy="116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 title="download.jpg"/>
          <p:cNvPicPr preferRelativeResize="0"/>
          <p:nvPr/>
        </p:nvPicPr>
        <p:blipFill rotWithShape="1">
          <a:blip r:embed="rId5">
            <a:alphaModFix/>
          </a:blip>
          <a:srcRect b="32304" l="7365" r="0" t="13146"/>
          <a:stretch/>
        </p:blipFill>
        <p:spPr>
          <a:xfrm>
            <a:off x="628650" y="3226125"/>
            <a:ext cx="1671474" cy="10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628650" y="78913"/>
            <a:ext cx="78867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OBSERVING a new perspective</a:t>
            </a:r>
            <a:endParaRPr/>
          </a:p>
        </p:txBody>
      </p:sp>
      <p:sp>
        <p:nvSpPr>
          <p:cNvPr id="211" name="Google Shape;211;p30"/>
          <p:cNvSpPr txBox="1"/>
          <p:nvPr>
            <p:ph idx="12" type="sldNum"/>
          </p:nvPr>
        </p:nvSpPr>
        <p:spPr>
          <a:xfrm>
            <a:off x="3543300" y="478294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628650" y="786970"/>
            <a:ext cx="788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/>
              <a:t>We invited interviewees to gain different perspectives on our topic.</a:t>
            </a:r>
            <a:endParaRPr/>
          </a:p>
        </p:txBody>
      </p:sp>
      <p:sp>
        <p:nvSpPr>
          <p:cNvPr id="213" name="Google Shape;213;p30"/>
          <p:cNvSpPr/>
          <p:nvPr/>
        </p:nvSpPr>
        <p:spPr>
          <a:xfrm>
            <a:off x="628660" y="1170124"/>
            <a:ext cx="729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NOTES</a:t>
            </a:r>
            <a:endParaRPr b="1"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628650" y="1447554"/>
            <a:ext cx="1671300" cy="1798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776746" y="3442225"/>
            <a:ext cx="1671300" cy="1253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4084297" y="3440178"/>
            <a:ext cx="1671300" cy="1253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“We must find exercises that fits our body the most.” </a:t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6496825" y="3387500"/>
            <a:ext cx="1968300" cy="1420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7280600" y="1556350"/>
            <a:ext cx="1764300" cy="1566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ddd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2682500" y="1578275"/>
            <a:ext cx="2057400" cy="1667700"/>
          </a:xfrm>
          <a:prstGeom prst="rect">
            <a:avLst/>
          </a:prstGeom>
          <a:noFill/>
          <a:ln cap="flat" cmpd="sng" w="169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9800" lIns="79625" spcFirstLastPara="1" rIns="79625" wrap="square" tIns="3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5182450" y="1578275"/>
            <a:ext cx="1857900" cy="1566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sefasddsf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9279" y="190561"/>
            <a:ext cx="475097" cy="29255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/>
          <p:nvPr/>
        </p:nvSpPr>
        <p:spPr>
          <a:xfrm>
            <a:off x="7149119" y="4837855"/>
            <a:ext cx="270900" cy="1737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7495783" y="4824355"/>
            <a:ext cx="267300" cy="200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7838829" y="4837855"/>
            <a:ext cx="231300" cy="1737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8145876" y="4837855"/>
            <a:ext cx="231300" cy="1737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8452922" y="4837855"/>
            <a:ext cx="231300" cy="1737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8759969" y="4837855"/>
            <a:ext cx="231300" cy="1737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688650" y="1447300"/>
            <a:ext cx="1551300" cy="17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“Sometimes I don't know how to exercise according to my body type, so having an assistant like this would increase the likelihood of me to exercise.”</a:t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1873375" y="3442225"/>
            <a:ext cx="1469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“I do not exercise often but it would be nice to know what would improve my body health”</a:t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2758362" y="1644854"/>
            <a:ext cx="1909800" cy="15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625" lIns="121625" spcFirstLastPara="1" rIns="121625" wrap="square" tIns="121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6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2682425" y="1578275"/>
            <a:ext cx="20574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“Exercise is equivalent to health. We must have healthy exercise habits/routines integrated to our lives. Exercises tire our body but increases our focus on other subjects ” </a:t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5252875" y="1644850"/>
            <a:ext cx="1671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“Exercises irregularly sessions vary from 30 to 90 min. Feels "done" only when every muscle group is worked, not based on time.”</a:t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7280500" y="1563000"/>
            <a:ext cx="176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“Biggest challenge is getting started. When unsure how much to do, she just keeps going decision is instinctive, not planned.”</a:t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6496825" y="3330325"/>
            <a:ext cx="1909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“Measures fatigue through body signals and loss of desire to continue. Would trust a free app but never uses one all options are paid.”</a:t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7164086" y="4843448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1"/>
          <p:cNvSpPr txBox="1"/>
          <p:nvPr>
            <p:ph type="title"/>
          </p:nvPr>
        </p:nvSpPr>
        <p:spPr>
          <a:xfrm>
            <a:off x="628650" y="78913"/>
            <a:ext cx="7886700" cy="61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DEFINING our challenge</a:t>
            </a:r>
            <a:endParaRPr/>
          </a:p>
        </p:txBody>
      </p:sp>
      <p:sp>
        <p:nvSpPr>
          <p:cNvPr id="241" name="Google Shape;241;p31"/>
          <p:cNvSpPr txBox="1"/>
          <p:nvPr>
            <p:ph idx="12" type="sldNum"/>
          </p:nvPr>
        </p:nvSpPr>
        <p:spPr>
          <a:xfrm>
            <a:off x="3947511" y="4745284"/>
            <a:ext cx="2340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50" lIns="68075" spcFirstLastPara="1" rIns="68075" wrap="square" tIns="34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51"/>
              <a:t>‹#›</a:t>
            </a:fld>
            <a:endParaRPr sz="1251"/>
          </a:p>
        </p:txBody>
      </p:sp>
      <p:sp>
        <p:nvSpPr>
          <p:cNvPr id="242" name="Google Shape;242;p31"/>
          <p:cNvSpPr/>
          <p:nvPr/>
        </p:nvSpPr>
        <p:spPr>
          <a:xfrm>
            <a:off x="631903" y="977752"/>
            <a:ext cx="1901100" cy="1426200"/>
          </a:xfrm>
          <a:prstGeom prst="rect">
            <a:avLst/>
          </a:prstGeom>
          <a:noFill/>
          <a:ln cap="flat" cmpd="sng" w="144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050" lIns="68075" spcFirstLastPara="1" rIns="68075" wrap="square" tIns="34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08793" y="711324"/>
            <a:ext cx="1709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50" lIns="68075" spcFirstLastPara="1" rIns="68075" wrap="square" tIns="34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5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WE TALKED TO</a:t>
            </a:r>
            <a:endParaRPr b="1" sz="1365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4" name="Google Shape;244;p31"/>
          <p:cNvSpPr/>
          <p:nvPr/>
        </p:nvSpPr>
        <p:spPr>
          <a:xfrm>
            <a:off x="3823010" y="983687"/>
            <a:ext cx="1901100" cy="1426200"/>
          </a:xfrm>
          <a:prstGeom prst="rect">
            <a:avLst/>
          </a:prstGeom>
          <a:noFill/>
          <a:ln cap="flat" cmpd="sng" w="144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050" lIns="68075" spcFirstLastPara="1" rIns="68075" wrap="square" tIns="34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 to continue. Would trust a free app but never uses one app but never uses one — all options are paid.</a:t>
            </a:r>
            <a:endParaRPr sz="159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3739979" y="719631"/>
            <a:ext cx="2503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50" lIns="68075" spcFirstLastPara="1" rIns="68075" wrap="square" tIns="34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5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WE’D NICKNAME THEM</a:t>
            </a:r>
            <a:endParaRPr b="1" sz="1365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631903" y="3099162"/>
            <a:ext cx="2434500" cy="1932900"/>
          </a:xfrm>
          <a:prstGeom prst="rect">
            <a:avLst/>
          </a:prstGeom>
          <a:noFill/>
          <a:ln cap="flat" cmpd="sng" w="144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050" lIns="68075" spcFirstLastPara="1" rIns="68075" wrap="square" tIns="34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605000" y="2792939"/>
            <a:ext cx="2657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50" lIns="68075" spcFirstLastPara="1" rIns="68075" wrap="square" tIns="34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5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THEY SAY</a:t>
            </a:r>
            <a:endParaRPr b="1" sz="1365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3816776" y="3099162"/>
            <a:ext cx="2340300" cy="1932900"/>
          </a:xfrm>
          <a:prstGeom prst="rect">
            <a:avLst/>
          </a:prstGeom>
          <a:noFill/>
          <a:ln cap="flat" cmpd="sng" w="144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050" lIns="68075" spcFirstLastPara="1" rIns="68075" wrap="square" tIns="34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3730949" y="2551023"/>
            <a:ext cx="3325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50" lIns="68075" spcFirstLastPara="1" rIns="68075" wrap="square" tIns="340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5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HERE’S WHAT WE THINK IS </a:t>
            </a:r>
            <a:endParaRPr b="1" sz="1365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5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UNDERLYING PROBLEM</a:t>
            </a:r>
            <a:endParaRPr b="1" sz="1365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3810739" y="1410396"/>
            <a:ext cx="19011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50" lIns="68075" spcFirstLastPara="1" rIns="68075" wrap="square" tIns="340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93">
                <a:solidFill>
                  <a:srgbClr val="274E13"/>
                </a:solidFill>
                <a:latin typeface="Avenir"/>
                <a:ea typeface="Avenir"/>
                <a:cs typeface="Avenir"/>
                <a:sym typeface="Avenir"/>
              </a:rPr>
              <a:t>Ms. Active</a:t>
            </a:r>
            <a:endParaRPr b="1" sz="1593">
              <a:solidFill>
                <a:srgbClr val="274E1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631903" y="3242300"/>
            <a:ext cx="2434500" cy="16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50" lIns="68075" spcFirstLastPara="1" rIns="68075" wrap="square" tIns="34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They want to find a fitting exercise</a:t>
            </a:r>
            <a:endParaRPr sz="1138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Get started exercising without thinking too </a:t>
            </a:r>
            <a: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much</a:t>
            </a:r>
            <a: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on it</a:t>
            </a:r>
            <a:endParaRPr sz="1138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 free and simple tool to guide her workout to know when she's done enough and to help her get started.</a:t>
            </a:r>
            <a:endParaRPr sz="1138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3810747" y="3139973"/>
            <a:ext cx="22275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50" lIns="68075" spcFirstLastPara="1" rIns="68075" wrap="square" tIns="34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 good plan that suits their needs.</a:t>
            </a:r>
            <a:endParaRPr sz="1138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Motivation to continue doing sports</a:t>
            </a:r>
            <a:endParaRPr sz="1138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b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n" sz="1138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 free and simple tool to guide her workout to know when she's done enough and to help her get started.</a:t>
            </a:r>
            <a:endParaRPr sz="1138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7806695" y="4831783"/>
            <a:ext cx="271046" cy="20328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7502983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8131476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8445722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8759969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7962" y="24869"/>
            <a:ext cx="628291" cy="59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1" title="hike.jpg"/>
          <p:cNvPicPr preferRelativeResize="0"/>
          <p:nvPr/>
        </p:nvPicPr>
        <p:blipFill rotWithShape="1">
          <a:blip r:embed="rId5">
            <a:alphaModFix/>
          </a:blip>
          <a:srcRect b="0" l="0" r="0" t="49995"/>
          <a:stretch/>
        </p:blipFill>
        <p:spPr>
          <a:xfrm>
            <a:off x="640377" y="977760"/>
            <a:ext cx="1901215" cy="1426034"/>
          </a:xfrm>
          <a:prstGeom prst="rect">
            <a:avLst/>
          </a:prstGeom>
          <a:noFill/>
          <a:ln cap="flat" cmpd="sng" w="14450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pic>
      <p:sp>
        <p:nvSpPr>
          <p:cNvPr id="260" name="Google Shape;260;p31"/>
          <p:cNvSpPr txBox="1"/>
          <p:nvPr/>
        </p:nvSpPr>
        <p:spPr>
          <a:xfrm>
            <a:off x="4268077" y="1819993"/>
            <a:ext cx="14001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000" lIns="104000" spcFirstLastPara="1" rIns="104000" wrap="square" tIns="104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Ms.Yoga</a:t>
            </a:r>
            <a:endParaRPr sz="159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/>
          <p:nvPr/>
        </p:nvSpPr>
        <p:spPr>
          <a:xfrm>
            <a:off x="7167314" y="4843448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2"/>
          <p:cNvSpPr txBox="1"/>
          <p:nvPr>
            <p:ph type="title"/>
          </p:nvPr>
        </p:nvSpPr>
        <p:spPr>
          <a:xfrm>
            <a:off x="628650" y="78913"/>
            <a:ext cx="7886700" cy="61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DRAWING an </a:t>
            </a:r>
            <a:r>
              <a:rPr lang="en"/>
              <a:t>idea</a:t>
            </a:r>
            <a:endParaRPr/>
          </a:p>
        </p:txBody>
      </p:sp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628650" y="786968"/>
            <a:ext cx="7886700" cy="8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/>
              <a:t>Drawing an idea that solves the problem we found.</a:t>
            </a:r>
            <a:endParaRPr/>
          </a:p>
        </p:txBody>
      </p:sp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3543300" y="478294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2939144" y="1539552"/>
            <a:ext cx="5576207" cy="3160744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740990" y="1539552"/>
            <a:ext cx="1671429" cy="125357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628649" y="1175620"/>
            <a:ext cx="1983922" cy="21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YOUR CHALLENGE</a:t>
            </a:r>
            <a:endParaRPr b="1"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2" name="Google Shape;272;p32"/>
          <p:cNvSpPr/>
          <p:nvPr/>
        </p:nvSpPr>
        <p:spPr>
          <a:xfrm>
            <a:off x="2939144" y="1175620"/>
            <a:ext cx="1983922" cy="21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YOUR SOLUTION</a:t>
            </a:r>
            <a:endParaRPr b="1"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8113278" y="4828589"/>
            <a:ext cx="271046" cy="20328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7502983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2"/>
          <p:cNvSpPr/>
          <p:nvPr/>
        </p:nvSpPr>
        <p:spPr>
          <a:xfrm>
            <a:off x="7817229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8445722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8759969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2772" y="81027"/>
            <a:ext cx="1239717" cy="48775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 txBox="1"/>
          <p:nvPr/>
        </p:nvSpPr>
        <p:spPr>
          <a:xfrm>
            <a:off x="741054" y="1789828"/>
            <a:ext cx="16713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 good plan that suits their needs.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Motivation to continue doing sports.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80" name="Google Shape;28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0289" y="1539550"/>
            <a:ext cx="5634828" cy="3160748"/>
          </a:xfrm>
          <a:prstGeom prst="rect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/>
          <p:nvPr/>
        </p:nvSpPr>
        <p:spPr>
          <a:xfrm>
            <a:off x="7173763" y="4843448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628650" y="78913"/>
            <a:ext cx="7886700" cy="617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TESTING our prototype</a:t>
            </a:r>
            <a:endParaRPr/>
          </a:p>
        </p:txBody>
      </p:sp>
      <p:sp>
        <p:nvSpPr>
          <p:cNvPr id="287" name="Google Shape;287;p33"/>
          <p:cNvSpPr txBox="1"/>
          <p:nvPr>
            <p:ph idx="1" type="body"/>
          </p:nvPr>
        </p:nvSpPr>
        <p:spPr>
          <a:xfrm>
            <a:off x="628650" y="786968"/>
            <a:ext cx="7886700" cy="8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/>
              <a:t>Handing our prototype to our interviewees. What do they think?</a:t>
            </a:r>
            <a:endParaRPr/>
          </a:p>
          <a:p>
            <a:pPr indent="-114300" lvl="0" marL="215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cxnSp>
        <p:nvCxnSpPr>
          <p:cNvPr id="288" name="Google Shape;288;p33"/>
          <p:cNvCxnSpPr/>
          <p:nvPr/>
        </p:nvCxnSpPr>
        <p:spPr>
          <a:xfrm>
            <a:off x="4556449" y="1201316"/>
            <a:ext cx="0" cy="35270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9" name="Google Shape;289;p33"/>
          <p:cNvCxnSpPr/>
          <p:nvPr/>
        </p:nvCxnSpPr>
        <p:spPr>
          <a:xfrm>
            <a:off x="-15551" y="2948459"/>
            <a:ext cx="9144000" cy="1638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0" name="Google Shape;290;p33"/>
          <p:cNvSpPr txBox="1"/>
          <p:nvPr>
            <p:ph idx="12" type="sldNum"/>
          </p:nvPr>
        </p:nvSpPr>
        <p:spPr>
          <a:xfrm>
            <a:off x="3543300" y="478294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3"/>
          <p:cNvSpPr/>
          <p:nvPr/>
        </p:nvSpPr>
        <p:spPr>
          <a:xfrm>
            <a:off x="2374715" y="1195497"/>
            <a:ext cx="1671300" cy="1253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1972699" y="2691241"/>
            <a:ext cx="2403314" cy="197856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WHAT WORKS (AND WHY)</a:t>
            </a:r>
            <a:endParaRPr b="1"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2398385" y="3090466"/>
            <a:ext cx="2038654" cy="197856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QUESTIONS WE HAVE</a:t>
            </a:r>
            <a:endParaRPr b="1"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4784716" y="2691241"/>
            <a:ext cx="2532928" cy="197856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WHAT DOESN’T (AND WHY)</a:t>
            </a:r>
            <a:endParaRPr b="1"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4711964" y="3095384"/>
            <a:ext cx="1137674" cy="197856"/>
          </a:xfrm>
          <a:prstGeom prst="rect">
            <a:avLst/>
          </a:prstGeom>
          <a:noFill/>
          <a:ln>
            <a:noFill/>
          </a:ln>
        </p:spPr>
        <p:txBody>
          <a:bodyPr anchorCtr="0" anchor="t" bIns="29925" lIns="59850" spcFirstLastPara="1" rIns="59850" wrap="square" tIns="29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NEW IDEAS</a:t>
            </a:r>
            <a:endParaRPr b="1"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192971" y="1195550"/>
            <a:ext cx="1671300" cy="1253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7097227" y="1195545"/>
            <a:ext cx="1671300" cy="1253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 motivation feature biggest challenge was getting started, but system doesn't address this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5066875" y="1077725"/>
            <a:ext cx="1671300" cy="1613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274875" y="3288325"/>
            <a:ext cx="1671300" cy="15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2482073" y="3698650"/>
            <a:ext cx="1671300" cy="1253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7207818" y="3277373"/>
            <a:ext cx="1671300" cy="1253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-Gentle nudge notification to help start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-Muscle group tracker for "full body" completion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5141750" y="3423775"/>
            <a:ext cx="1671300" cy="1469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6530" y="106554"/>
            <a:ext cx="603693" cy="425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2101" y="2211861"/>
            <a:ext cx="404386" cy="429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0995" y="2251067"/>
            <a:ext cx="366748" cy="38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7086" y="3336586"/>
            <a:ext cx="408613" cy="36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9131" y="3271320"/>
            <a:ext cx="452606" cy="45058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3"/>
          <p:cNvSpPr/>
          <p:nvPr/>
        </p:nvSpPr>
        <p:spPr>
          <a:xfrm>
            <a:off x="8735319" y="4828589"/>
            <a:ext cx="271046" cy="20328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7502983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7817229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8131476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8445722" y="4843446"/>
            <a:ext cx="231429" cy="173571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9925" lIns="59850" spcFirstLastPara="1" rIns="59850" wrap="square" tIns="29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270275" y="1254575"/>
            <a:ext cx="152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Personalized recommendations fill relevant</a:t>
            </a: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inputs like age, BMI and fitness level reflect real user needs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066863" y="1506627"/>
            <a:ext cx="1671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Weekly activity level is hard to self-report accurately users may not know their exact level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274875" y="3235879"/>
            <a:ext cx="1630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</a:t>
            </a: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How often should the user update their inputs?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-Can fuzzy rules capture the difference between "a little tired" and "very tired"?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-Would Ms. Yoga actually open the app when she doesn't feel like starting?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6" name="Google Shape;316;p33"/>
          <p:cNvSpPr txBox="1"/>
          <p:nvPr/>
        </p:nvSpPr>
        <p:spPr>
          <a:xfrm>
            <a:off x="5162300" y="3697192"/>
            <a:ext cx="1630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-Daily energy slider before workout (fuzzy motivation input)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2431150" y="1274525"/>
            <a:ext cx="15252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Improves motivation by giving relevant recommendations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2502550" y="3662276"/>
            <a:ext cx="163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How practical is entering your information every time before doing exercise?</a:t>
            </a:r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