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Milks Casual 700 One" charset="1" panose="02000506030000020003"/>
      <p:regular r:id="rId17"/>
    </p:embeddedFont>
    <p:embeddedFont>
      <p:font typeface="Agrandir Bold" charset="1" panose="00000800000000000000"/>
      <p:regular r:id="rId18"/>
    </p:embeddedFont>
    <p:embeddedFont>
      <p:font typeface="Agrandir" charset="1" panose="00000500000000000000"/>
      <p:regular r:id="rId19"/>
    </p:embeddedFont>
    <p:embeddedFont>
      <p:font typeface="Agrandir Medium" charset="1" panose="00000600000000000000"/>
      <p:regular r:id="rId20"/>
    </p:embeddedFont>
    <p:embeddedFont>
      <p:font typeface="Public Sans" charset="1" panose="00000000000000000000"/>
      <p:regular r:id="rId21"/>
    </p:embeddedFont>
    <p:embeddedFont>
      <p:font typeface="Frunchy Sage"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22.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30.png" Type="http://schemas.openxmlformats.org/officeDocument/2006/relationships/image"/><Relationship Id="rId18" Target="../embeddings/oleObject1.bin" Type="http://schemas.openxmlformats.org/officeDocument/2006/relationships/oleObject"/><Relationship Id="rId19" Target="../media/image31.png" Type="http://schemas.openxmlformats.org/officeDocument/2006/relationships/image"/><Relationship Id="rId2" Target="../media/image1.jpeg" Type="http://schemas.openxmlformats.org/officeDocument/2006/relationships/image"/><Relationship Id="rId20" Target="../media/image32.png" Type="http://schemas.openxmlformats.org/officeDocument/2006/relationships/image"/><Relationship Id="rId21" Target="../media/image33.png" Type="http://schemas.openxmlformats.org/officeDocument/2006/relationships/image"/><Relationship Id="rId22" Target="../media/image34.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2" Target="../media/image1.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jpeg" Type="http://schemas.openxmlformats.org/officeDocument/2006/relationships/image"/><Relationship Id="rId3" Target="../media/VAHK9zsTjYM.mp4" Type="http://schemas.openxmlformats.org/officeDocument/2006/relationships/video"/><Relationship Id="rId4" Target="../media/VAHK9zsTjYM.mp4" Type="http://schemas.microsoft.com/office/2007/relationships/media"/></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1015631" y="1897990"/>
            <a:ext cx="5700296" cy="6491021"/>
          </a:xfrm>
          <a:custGeom>
            <a:avLst/>
            <a:gdLst/>
            <a:ahLst/>
            <a:cxnLst/>
            <a:rect r="r" b="b" t="t" l="l"/>
            <a:pathLst>
              <a:path h="6491021" w="5700296">
                <a:moveTo>
                  <a:pt x="0" y="0"/>
                </a:moveTo>
                <a:lnTo>
                  <a:pt x="5700296" y="0"/>
                </a:lnTo>
                <a:lnTo>
                  <a:pt x="5700296" y="6491020"/>
                </a:lnTo>
                <a:lnTo>
                  <a:pt x="0" y="6491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496043" y="8985429"/>
            <a:ext cx="6517111" cy="2916407"/>
          </a:xfrm>
          <a:custGeom>
            <a:avLst/>
            <a:gdLst/>
            <a:ahLst/>
            <a:cxnLst/>
            <a:rect r="r" b="b" t="t" l="l"/>
            <a:pathLst>
              <a:path h="2916407" w="6517111">
                <a:moveTo>
                  <a:pt x="0" y="0"/>
                </a:moveTo>
                <a:lnTo>
                  <a:pt x="6517111" y="0"/>
                </a:lnTo>
                <a:lnTo>
                  <a:pt x="6517111" y="2916407"/>
                </a:lnTo>
                <a:lnTo>
                  <a:pt x="0" y="29164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34967" y="-743084"/>
            <a:ext cx="6670249" cy="1592522"/>
          </a:xfrm>
          <a:custGeom>
            <a:avLst/>
            <a:gdLst/>
            <a:ahLst/>
            <a:cxnLst/>
            <a:rect r="r" b="b" t="t" l="l"/>
            <a:pathLst>
              <a:path h="1592522" w="6670249">
                <a:moveTo>
                  <a:pt x="0" y="0"/>
                </a:moveTo>
                <a:lnTo>
                  <a:pt x="6670249" y="0"/>
                </a:lnTo>
                <a:lnTo>
                  <a:pt x="6670249" y="1592522"/>
                </a:lnTo>
                <a:lnTo>
                  <a:pt x="0" y="1592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259300" y="741599"/>
            <a:ext cx="2446977" cy="2939311"/>
          </a:xfrm>
          <a:custGeom>
            <a:avLst/>
            <a:gdLst/>
            <a:ahLst/>
            <a:cxnLst/>
            <a:rect r="r" b="b" t="t" l="l"/>
            <a:pathLst>
              <a:path h="2939311" w="2446977">
                <a:moveTo>
                  <a:pt x="0" y="0"/>
                </a:moveTo>
                <a:lnTo>
                  <a:pt x="2446977" y="0"/>
                </a:lnTo>
                <a:lnTo>
                  <a:pt x="2446977" y="2939311"/>
                </a:lnTo>
                <a:lnTo>
                  <a:pt x="0" y="2939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435782" y="435819"/>
            <a:ext cx="5416435" cy="827237"/>
          </a:xfrm>
          <a:custGeom>
            <a:avLst/>
            <a:gdLst/>
            <a:ahLst/>
            <a:cxnLst/>
            <a:rect r="r" b="b" t="t" l="l"/>
            <a:pathLst>
              <a:path h="827237" w="5416435">
                <a:moveTo>
                  <a:pt x="0" y="0"/>
                </a:moveTo>
                <a:lnTo>
                  <a:pt x="5416436" y="0"/>
                </a:lnTo>
                <a:lnTo>
                  <a:pt x="5416436" y="827238"/>
                </a:lnTo>
                <a:lnTo>
                  <a:pt x="0" y="8272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2838772" y="9401321"/>
            <a:ext cx="6242672" cy="1771358"/>
          </a:xfrm>
          <a:custGeom>
            <a:avLst/>
            <a:gdLst/>
            <a:ahLst/>
            <a:cxnLst/>
            <a:rect r="r" b="b" t="t" l="l"/>
            <a:pathLst>
              <a:path h="1771358" w="6242672">
                <a:moveTo>
                  <a:pt x="0" y="0"/>
                </a:moveTo>
                <a:lnTo>
                  <a:pt x="6242672" y="0"/>
                </a:lnTo>
                <a:lnTo>
                  <a:pt x="6242672" y="1771358"/>
                </a:lnTo>
                <a:lnTo>
                  <a:pt x="0" y="177135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4781314" y="9258300"/>
            <a:ext cx="5746817" cy="2643536"/>
          </a:xfrm>
          <a:custGeom>
            <a:avLst/>
            <a:gdLst/>
            <a:ahLst/>
            <a:cxnLst/>
            <a:rect r="r" b="b" t="t" l="l"/>
            <a:pathLst>
              <a:path h="2643536" w="5746817">
                <a:moveTo>
                  <a:pt x="0" y="0"/>
                </a:moveTo>
                <a:lnTo>
                  <a:pt x="5746817" y="0"/>
                </a:lnTo>
                <a:lnTo>
                  <a:pt x="5746817" y="2643536"/>
                </a:lnTo>
                <a:lnTo>
                  <a:pt x="0" y="264353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10800000">
            <a:off x="13157143" y="-2818138"/>
            <a:ext cx="3866169" cy="3846838"/>
          </a:xfrm>
          <a:custGeom>
            <a:avLst/>
            <a:gdLst/>
            <a:ahLst/>
            <a:cxnLst/>
            <a:rect r="r" b="b" t="t" l="l"/>
            <a:pathLst>
              <a:path h="3846838" w="3866169">
                <a:moveTo>
                  <a:pt x="0" y="0"/>
                </a:moveTo>
                <a:lnTo>
                  <a:pt x="3866169" y="0"/>
                </a:lnTo>
                <a:lnTo>
                  <a:pt x="3866169" y="3846838"/>
                </a:lnTo>
                <a:lnTo>
                  <a:pt x="0" y="384683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241867" y="1416472"/>
            <a:ext cx="5746817" cy="2643536"/>
          </a:xfrm>
          <a:custGeom>
            <a:avLst/>
            <a:gdLst/>
            <a:ahLst/>
            <a:cxnLst/>
            <a:rect r="r" b="b" t="t" l="l"/>
            <a:pathLst>
              <a:path h="2643536" w="5746817">
                <a:moveTo>
                  <a:pt x="0" y="0"/>
                </a:moveTo>
                <a:lnTo>
                  <a:pt x="5746817" y="0"/>
                </a:lnTo>
                <a:lnTo>
                  <a:pt x="5746817" y="2643536"/>
                </a:lnTo>
                <a:lnTo>
                  <a:pt x="0" y="264353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2" id="12"/>
          <p:cNvSpPr/>
          <p:nvPr/>
        </p:nvSpPr>
        <p:spPr>
          <a:xfrm flipH="false" flipV="false" rot="0">
            <a:off x="13799284" y="4060008"/>
            <a:ext cx="3460016" cy="4114800"/>
          </a:xfrm>
          <a:custGeom>
            <a:avLst/>
            <a:gdLst/>
            <a:ahLst/>
            <a:cxnLst/>
            <a:rect r="r" b="b" t="t" l="l"/>
            <a:pathLst>
              <a:path h="4114800" w="3460016">
                <a:moveTo>
                  <a:pt x="0" y="0"/>
                </a:moveTo>
                <a:lnTo>
                  <a:pt x="3460016" y="0"/>
                </a:lnTo>
                <a:lnTo>
                  <a:pt x="3460016" y="4114800"/>
                </a:lnTo>
                <a:lnTo>
                  <a:pt x="0" y="41148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3" id="13"/>
          <p:cNvSpPr txBox="true"/>
          <p:nvPr/>
        </p:nvSpPr>
        <p:spPr>
          <a:xfrm rot="0">
            <a:off x="1695450" y="2868269"/>
            <a:ext cx="8261837" cy="3730267"/>
          </a:xfrm>
          <a:prstGeom prst="rect">
            <a:avLst/>
          </a:prstGeom>
        </p:spPr>
        <p:txBody>
          <a:bodyPr anchor="t" rtlCol="false" tIns="0" lIns="0" bIns="0" rIns="0">
            <a:spAutoFit/>
          </a:bodyPr>
          <a:lstStyle/>
          <a:p>
            <a:pPr algn="l">
              <a:lnSpc>
                <a:spcPts val="9626"/>
              </a:lnSpc>
            </a:pPr>
            <a:r>
              <a:rPr lang="en-US" sz="9626" spc="-548">
                <a:solidFill>
                  <a:srgbClr val="FFFFFF"/>
                </a:solidFill>
                <a:latin typeface="TT Milks Casual 700 One"/>
                <a:ea typeface="TT Milks Casual 700 One"/>
                <a:cs typeface="TT Milks Casual 700 One"/>
                <a:sym typeface="TT Milks Casual 700 One"/>
              </a:rPr>
              <a:t>FUZZY EXERCISE ASSISTANT</a:t>
            </a:r>
          </a:p>
        </p:txBody>
      </p:sp>
      <p:sp>
        <p:nvSpPr>
          <p:cNvPr name="TextBox 14" id="14"/>
          <p:cNvSpPr txBox="true"/>
          <p:nvPr/>
        </p:nvSpPr>
        <p:spPr>
          <a:xfrm rot="0">
            <a:off x="2018377" y="6918270"/>
            <a:ext cx="7483954" cy="1307493"/>
          </a:xfrm>
          <a:prstGeom prst="rect">
            <a:avLst/>
          </a:prstGeom>
        </p:spPr>
        <p:txBody>
          <a:bodyPr anchor="t" rtlCol="false" tIns="0" lIns="0" bIns="0" rIns="0">
            <a:spAutoFit/>
          </a:bodyPr>
          <a:lstStyle/>
          <a:p>
            <a:pPr algn="l">
              <a:lnSpc>
                <a:spcPts val="5020"/>
              </a:lnSpc>
            </a:pPr>
            <a:r>
              <a:rPr lang="en-US" sz="4922" spc="-118">
                <a:solidFill>
                  <a:srgbClr val="303030"/>
                </a:solidFill>
                <a:latin typeface="TT Milks Casual 700 One"/>
                <a:ea typeface="TT Milks Casual 700 One"/>
                <a:cs typeface="TT Milks Casual 700 One"/>
                <a:sym typeface="TT Milks Casual 700 One"/>
              </a:rPr>
              <a:t>MERCAN ESEN</a:t>
            </a:r>
          </a:p>
          <a:p>
            <a:pPr algn="l" marL="0" indent="0" lvl="0">
              <a:lnSpc>
                <a:spcPts val="5020"/>
              </a:lnSpc>
              <a:spcBef>
                <a:spcPct val="0"/>
              </a:spcBef>
            </a:pPr>
            <a:r>
              <a:rPr lang="en-US" sz="4922" spc="-118">
                <a:solidFill>
                  <a:srgbClr val="303030"/>
                </a:solidFill>
                <a:latin typeface="TT Milks Casual 700 One"/>
                <a:ea typeface="TT Milks Casual 700 One"/>
                <a:cs typeface="TT Milks Casual 700 One"/>
                <a:sym typeface="TT Milks Casual 700 One"/>
              </a:rPr>
              <a:t>SAADET YILMAZ</a:t>
            </a:r>
          </a:p>
        </p:txBody>
      </p:sp>
      <p:sp>
        <p:nvSpPr>
          <p:cNvPr name="TextBox 15" id="15"/>
          <p:cNvSpPr txBox="true"/>
          <p:nvPr/>
        </p:nvSpPr>
        <p:spPr>
          <a:xfrm rot="0">
            <a:off x="1800157" y="2192205"/>
            <a:ext cx="7791152" cy="300609"/>
          </a:xfrm>
          <a:prstGeom prst="rect">
            <a:avLst/>
          </a:prstGeom>
        </p:spPr>
        <p:txBody>
          <a:bodyPr anchor="t" rtlCol="false" tIns="0" lIns="0" bIns="0" rIns="0">
            <a:spAutoFit/>
          </a:bodyPr>
          <a:lstStyle/>
          <a:p>
            <a:pPr algn="ctr">
              <a:lnSpc>
                <a:spcPts val="1937"/>
              </a:lnSpc>
              <a:spcBef>
                <a:spcPct val="0"/>
              </a:spcBef>
            </a:pPr>
            <a:r>
              <a:rPr lang="en-US" b="true" sz="1899" spc="-45">
                <a:solidFill>
                  <a:srgbClr val="FFFFFF"/>
                </a:solidFill>
                <a:latin typeface="Agrandir Bold"/>
                <a:ea typeface="Agrandir Bold"/>
                <a:cs typeface="Agrandir Bold"/>
                <a:sym typeface="Agrandir Bold"/>
              </a:rPr>
              <a:t>Github Link</a:t>
            </a:r>
            <a:r>
              <a:rPr lang="en-US" sz="1899" spc="-45">
                <a:solidFill>
                  <a:srgbClr val="FFFFFF"/>
                </a:solidFill>
                <a:latin typeface="Agrandir"/>
                <a:ea typeface="Agrandir"/>
                <a:cs typeface="Agrandir"/>
                <a:sym typeface="Agrandir"/>
              </a:rPr>
              <a:t>: https://github.com/Saadet2805/Fuzzy-Exercise-Assistant.git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0972016" y="1028700"/>
            <a:ext cx="4670298" cy="8229600"/>
          </a:xfrm>
          <a:custGeom>
            <a:avLst/>
            <a:gdLst/>
            <a:ahLst/>
            <a:cxnLst/>
            <a:rect r="r" b="b" t="t" l="l"/>
            <a:pathLst>
              <a:path h="8229600" w="4670298">
                <a:moveTo>
                  <a:pt x="0" y="0"/>
                </a:moveTo>
                <a:lnTo>
                  <a:pt x="4670298" y="0"/>
                </a:lnTo>
                <a:lnTo>
                  <a:pt x="467029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504950" y="3660775"/>
            <a:ext cx="8520156" cy="3098801"/>
          </a:xfrm>
          <a:prstGeom prst="rect">
            <a:avLst/>
          </a:prstGeom>
        </p:spPr>
        <p:txBody>
          <a:bodyPr anchor="t" rtlCol="false" tIns="0" lIns="0" bIns="0" rIns="0">
            <a:spAutoFit/>
          </a:bodyPr>
          <a:lstStyle/>
          <a:p>
            <a:pPr algn="l">
              <a:lnSpc>
                <a:spcPts val="8000"/>
              </a:lnSpc>
            </a:pPr>
            <a:r>
              <a:rPr lang="en-US" sz="8000" spc="-192">
                <a:solidFill>
                  <a:srgbClr val="FFFFFF"/>
                </a:solidFill>
                <a:latin typeface="TT Milks Casual 700 One"/>
                <a:ea typeface="TT Milks Casual 700 One"/>
                <a:cs typeface="TT Milks Casual 700 One"/>
                <a:sym typeface="TT Milks Casual 700 One"/>
              </a:rPr>
              <a:t>WHY DID WE CHOOSE THIS TOPIC?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2632073" y="8828796"/>
            <a:ext cx="6517111" cy="2916407"/>
          </a:xfrm>
          <a:custGeom>
            <a:avLst/>
            <a:gdLst/>
            <a:ahLst/>
            <a:cxnLst/>
            <a:rect r="r" b="b" t="t" l="l"/>
            <a:pathLst>
              <a:path h="2916407" w="6517111">
                <a:moveTo>
                  <a:pt x="0" y="0"/>
                </a:moveTo>
                <a:lnTo>
                  <a:pt x="6517111" y="0"/>
                </a:lnTo>
                <a:lnTo>
                  <a:pt x="6517111" y="2916408"/>
                </a:lnTo>
                <a:lnTo>
                  <a:pt x="0" y="29164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82643" y="-567545"/>
            <a:ext cx="6670249" cy="1592522"/>
          </a:xfrm>
          <a:custGeom>
            <a:avLst/>
            <a:gdLst/>
            <a:ahLst/>
            <a:cxnLst/>
            <a:rect r="r" b="b" t="t" l="l"/>
            <a:pathLst>
              <a:path h="1592522" w="6670249">
                <a:moveTo>
                  <a:pt x="0" y="0"/>
                </a:moveTo>
                <a:lnTo>
                  <a:pt x="6670249" y="0"/>
                </a:lnTo>
                <a:lnTo>
                  <a:pt x="6670249" y="1592522"/>
                </a:lnTo>
                <a:lnTo>
                  <a:pt x="0" y="1592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259300" y="1779686"/>
            <a:ext cx="2446977" cy="2939311"/>
          </a:xfrm>
          <a:custGeom>
            <a:avLst/>
            <a:gdLst/>
            <a:ahLst/>
            <a:cxnLst/>
            <a:rect r="r" b="b" t="t" l="l"/>
            <a:pathLst>
              <a:path h="2939311" w="2446977">
                <a:moveTo>
                  <a:pt x="0" y="0"/>
                </a:moveTo>
                <a:lnTo>
                  <a:pt x="2446977" y="0"/>
                </a:lnTo>
                <a:lnTo>
                  <a:pt x="2446977" y="2939311"/>
                </a:lnTo>
                <a:lnTo>
                  <a:pt x="0" y="29393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052402" y="-412187"/>
            <a:ext cx="5416435" cy="827237"/>
          </a:xfrm>
          <a:custGeom>
            <a:avLst/>
            <a:gdLst/>
            <a:ahLst/>
            <a:cxnLst/>
            <a:rect r="r" b="b" t="t" l="l"/>
            <a:pathLst>
              <a:path h="827237" w="5416435">
                <a:moveTo>
                  <a:pt x="0" y="0"/>
                </a:moveTo>
                <a:lnTo>
                  <a:pt x="5416435" y="0"/>
                </a:lnTo>
                <a:lnTo>
                  <a:pt x="5416435" y="827238"/>
                </a:lnTo>
                <a:lnTo>
                  <a:pt x="0" y="8272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729948" y="9258300"/>
            <a:ext cx="6242672" cy="1771358"/>
          </a:xfrm>
          <a:custGeom>
            <a:avLst/>
            <a:gdLst/>
            <a:ahLst/>
            <a:cxnLst/>
            <a:rect r="r" b="b" t="t" l="l"/>
            <a:pathLst>
              <a:path h="1771358" w="6242672">
                <a:moveTo>
                  <a:pt x="0" y="0"/>
                </a:moveTo>
                <a:lnTo>
                  <a:pt x="6242672" y="0"/>
                </a:lnTo>
                <a:lnTo>
                  <a:pt x="6242672" y="1771358"/>
                </a:lnTo>
                <a:lnTo>
                  <a:pt x="0" y="17713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4375121" y="9558221"/>
            <a:ext cx="6397553" cy="2942875"/>
          </a:xfrm>
          <a:custGeom>
            <a:avLst/>
            <a:gdLst/>
            <a:ahLst/>
            <a:cxnLst/>
            <a:rect r="r" b="b" t="t" l="l"/>
            <a:pathLst>
              <a:path h="2942875" w="6397553">
                <a:moveTo>
                  <a:pt x="0" y="0"/>
                </a:moveTo>
                <a:lnTo>
                  <a:pt x="6397554" y="0"/>
                </a:lnTo>
                <a:lnTo>
                  <a:pt x="6397554" y="2942874"/>
                </a:lnTo>
                <a:lnTo>
                  <a:pt x="0" y="29428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10800000">
            <a:off x="13393131" y="-2821861"/>
            <a:ext cx="3866169" cy="3846838"/>
          </a:xfrm>
          <a:custGeom>
            <a:avLst/>
            <a:gdLst/>
            <a:ahLst/>
            <a:cxnLst/>
            <a:rect r="r" b="b" t="t" l="l"/>
            <a:pathLst>
              <a:path h="3846838" w="3866169">
                <a:moveTo>
                  <a:pt x="0" y="0"/>
                </a:moveTo>
                <a:lnTo>
                  <a:pt x="3866169" y="0"/>
                </a:lnTo>
                <a:lnTo>
                  <a:pt x="3866169" y="3846838"/>
                </a:lnTo>
                <a:lnTo>
                  <a:pt x="0" y="38468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4907893" y="4960948"/>
            <a:ext cx="6397553" cy="2942875"/>
          </a:xfrm>
          <a:custGeom>
            <a:avLst/>
            <a:gdLst/>
            <a:ahLst/>
            <a:cxnLst/>
            <a:rect r="r" b="b" t="t" l="l"/>
            <a:pathLst>
              <a:path h="2942875" w="6397553">
                <a:moveTo>
                  <a:pt x="0" y="0"/>
                </a:moveTo>
                <a:lnTo>
                  <a:pt x="6397553" y="0"/>
                </a:lnTo>
                <a:lnTo>
                  <a:pt x="6397553" y="2942874"/>
                </a:lnTo>
                <a:lnTo>
                  <a:pt x="0" y="29428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1" id="11"/>
          <p:cNvSpPr/>
          <p:nvPr/>
        </p:nvSpPr>
        <p:spPr>
          <a:xfrm flipH="false" flipV="false" rot="0">
            <a:off x="1401990" y="2089804"/>
            <a:ext cx="15208423" cy="7778535"/>
          </a:xfrm>
          <a:custGeom>
            <a:avLst/>
            <a:gdLst/>
            <a:ahLst/>
            <a:cxnLst/>
            <a:rect r="r" b="b" t="t" l="l"/>
            <a:pathLst>
              <a:path h="7778535" w="15208423">
                <a:moveTo>
                  <a:pt x="0" y="0"/>
                </a:moveTo>
                <a:lnTo>
                  <a:pt x="15208424" y="0"/>
                </a:lnTo>
                <a:lnTo>
                  <a:pt x="15208424" y="7778534"/>
                </a:lnTo>
                <a:lnTo>
                  <a:pt x="0" y="7778534"/>
                </a:lnTo>
                <a:lnTo>
                  <a:pt x="0" y="0"/>
                </a:lnTo>
                <a:close/>
              </a:path>
            </a:pathLst>
          </a:custGeom>
          <a:blipFill>
            <a:blip r:embed="rId17"/>
            <a:stretch>
              <a:fillRect l="0" t="-20140" r="-478" b="-10746"/>
            </a:stretch>
          </a:blipFill>
        </p:spPr>
      </p:sp>
      <p:sp>
        <p:nvSpPr>
          <p:cNvPr name="TextBox 12" id="12"/>
          <p:cNvSpPr txBox="true"/>
          <p:nvPr/>
        </p:nvSpPr>
        <p:spPr>
          <a:xfrm rot="0">
            <a:off x="1401990" y="641023"/>
            <a:ext cx="14932827" cy="918229"/>
          </a:xfrm>
          <a:prstGeom prst="rect">
            <a:avLst/>
          </a:prstGeom>
        </p:spPr>
        <p:txBody>
          <a:bodyPr anchor="t" rtlCol="false" tIns="0" lIns="0" bIns="0" rIns="0">
            <a:spAutoFit/>
          </a:bodyPr>
          <a:lstStyle/>
          <a:p>
            <a:pPr algn="ctr" marL="0" indent="0" lvl="0">
              <a:lnSpc>
                <a:spcPts val="6720"/>
              </a:lnSpc>
              <a:spcBef>
                <a:spcPct val="0"/>
              </a:spcBef>
            </a:pPr>
            <a:r>
              <a:rPr lang="en-US" sz="7000">
                <a:solidFill>
                  <a:srgbClr val="FFFFFF"/>
                </a:solidFill>
                <a:latin typeface="TT Milks Casual 700 One"/>
                <a:ea typeface="TT Milks Casual 700 One"/>
                <a:cs typeface="TT Milks Casual 700 One"/>
                <a:sym typeface="TT Milks Casual 700 One"/>
              </a:rPr>
              <a:t>Software Architecture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382643" y="-567545"/>
            <a:ext cx="6670249" cy="1592522"/>
          </a:xfrm>
          <a:custGeom>
            <a:avLst/>
            <a:gdLst/>
            <a:ahLst/>
            <a:cxnLst/>
            <a:rect r="r" b="b" t="t" l="l"/>
            <a:pathLst>
              <a:path h="1592522" w="6670249">
                <a:moveTo>
                  <a:pt x="0" y="0"/>
                </a:moveTo>
                <a:lnTo>
                  <a:pt x="6670249" y="0"/>
                </a:lnTo>
                <a:lnTo>
                  <a:pt x="6670249" y="1592522"/>
                </a:lnTo>
                <a:lnTo>
                  <a:pt x="0" y="15925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632073" y="8828796"/>
            <a:ext cx="6517111" cy="2916407"/>
          </a:xfrm>
          <a:custGeom>
            <a:avLst/>
            <a:gdLst/>
            <a:ahLst/>
            <a:cxnLst/>
            <a:rect r="r" b="b" t="t" l="l"/>
            <a:pathLst>
              <a:path h="2916407" w="6517111">
                <a:moveTo>
                  <a:pt x="0" y="0"/>
                </a:moveTo>
                <a:lnTo>
                  <a:pt x="6517111" y="0"/>
                </a:lnTo>
                <a:lnTo>
                  <a:pt x="6517111" y="2916408"/>
                </a:lnTo>
                <a:lnTo>
                  <a:pt x="0" y="29164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729948" y="9258300"/>
            <a:ext cx="6242672" cy="1771358"/>
          </a:xfrm>
          <a:custGeom>
            <a:avLst/>
            <a:gdLst/>
            <a:ahLst/>
            <a:cxnLst/>
            <a:rect r="r" b="b" t="t" l="l"/>
            <a:pathLst>
              <a:path h="1771358" w="6242672">
                <a:moveTo>
                  <a:pt x="0" y="0"/>
                </a:moveTo>
                <a:lnTo>
                  <a:pt x="6242672" y="0"/>
                </a:lnTo>
                <a:lnTo>
                  <a:pt x="6242672" y="1771358"/>
                </a:lnTo>
                <a:lnTo>
                  <a:pt x="0" y="17713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4375121" y="9558221"/>
            <a:ext cx="6397553" cy="2942875"/>
          </a:xfrm>
          <a:custGeom>
            <a:avLst/>
            <a:gdLst/>
            <a:ahLst/>
            <a:cxnLst/>
            <a:rect r="r" b="b" t="t" l="l"/>
            <a:pathLst>
              <a:path h="2942875" w="6397553">
                <a:moveTo>
                  <a:pt x="0" y="0"/>
                </a:moveTo>
                <a:lnTo>
                  <a:pt x="6397554" y="0"/>
                </a:lnTo>
                <a:lnTo>
                  <a:pt x="6397554" y="2942874"/>
                </a:lnTo>
                <a:lnTo>
                  <a:pt x="0" y="294287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7259300" y="1779686"/>
            <a:ext cx="2446977" cy="2939311"/>
          </a:xfrm>
          <a:custGeom>
            <a:avLst/>
            <a:gdLst/>
            <a:ahLst/>
            <a:cxnLst/>
            <a:rect r="r" b="b" t="t" l="l"/>
            <a:pathLst>
              <a:path h="2939311" w="2446977">
                <a:moveTo>
                  <a:pt x="0" y="0"/>
                </a:moveTo>
                <a:lnTo>
                  <a:pt x="2446977" y="0"/>
                </a:lnTo>
                <a:lnTo>
                  <a:pt x="2446977" y="2939311"/>
                </a:lnTo>
                <a:lnTo>
                  <a:pt x="0" y="29393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7052402" y="-412187"/>
            <a:ext cx="5416435" cy="827237"/>
          </a:xfrm>
          <a:custGeom>
            <a:avLst/>
            <a:gdLst/>
            <a:ahLst/>
            <a:cxnLst/>
            <a:rect r="r" b="b" t="t" l="l"/>
            <a:pathLst>
              <a:path h="827237" w="5416435">
                <a:moveTo>
                  <a:pt x="0" y="0"/>
                </a:moveTo>
                <a:lnTo>
                  <a:pt x="5416435" y="0"/>
                </a:lnTo>
                <a:lnTo>
                  <a:pt x="5416435" y="827238"/>
                </a:lnTo>
                <a:lnTo>
                  <a:pt x="0" y="8272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10800000">
            <a:off x="13393131" y="-2821861"/>
            <a:ext cx="3866169" cy="3846838"/>
          </a:xfrm>
          <a:custGeom>
            <a:avLst/>
            <a:gdLst/>
            <a:ahLst/>
            <a:cxnLst/>
            <a:rect r="r" b="b" t="t" l="l"/>
            <a:pathLst>
              <a:path h="3846838" w="3866169">
                <a:moveTo>
                  <a:pt x="0" y="0"/>
                </a:moveTo>
                <a:lnTo>
                  <a:pt x="3866169" y="0"/>
                </a:lnTo>
                <a:lnTo>
                  <a:pt x="3866169" y="3846838"/>
                </a:lnTo>
                <a:lnTo>
                  <a:pt x="0" y="38468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TextBox 10" id="10"/>
          <p:cNvSpPr txBox="true"/>
          <p:nvPr/>
        </p:nvSpPr>
        <p:spPr>
          <a:xfrm rot="0">
            <a:off x="1677586" y="2861665"/>
            <a:ext cx="14932827" cy="918229"/>
          </a:xfrm>
          <a:prstGeom prst="rect">
            <a:avLst/>
          </a:prstGeom>
        </p:spPr>
        <p:txBody>
          <a:bodyPr anchor="t" rtlCol="false" tIns="0" lIns="0" bIns="0" rIns="0">
            <a:spAutoFit/>
          </a:bodyPr>
          <a:lstStyle/>
          <a:p>
            <a:pPr algn="ctr" marL="0" indent="0" lvl="0">
              <a:lnSpc>
                <a:spcPts val="6720"/>
              </a:lnSpc>
              <a:spcBef>
                <a:spcPct val="0"/>
              </a:spcBef>
            </a:pPr>
            <a:r>
              <a:rPr lang="en-US" sz="7000">
                <a:solidFill>
                  <a:srgbClr val="FFFFFF"/>
                </a:solidFill>
                <a:latin typeface="TT Milks Casual 700 One"/>
                <a:ea typeface="TT Milks Casual 700 One"/>
                <a:cs typeface="TT Milks Casual 700 One"/>
                <a:sym typeface="TT Milks Casual 700 One"/>
              </a:rPr>
              <a:t>What the Assistant does</a:t>
            </a:r>
          </a:p>
        </p:txBody>
      </p:sp>
      <p:sp>
        <p:nvSpPr>
          <p:cNvPr name="TextBox 11" id="11"/>
          <p:cNvSpPr txBox="true"/>
          <p:nvPr/>
        </p:nvSpPr>
        <p:spPr>
          <a:xfrm rot="0">
            <a:off x="3973159" y="4065381"/>
            <a:ext cx="10341683" cy="3642106"/>
          </a:xfrm>
          <a:prstGeom prst="rect">
            <a:avLst/>
          </a:prstGeom>
        </p:spPr>
        <p:txBody>
          <a:bodyPr anchor="t" rtlCol="false" tIns="0" lIns="0" bIns="0" rIns="0">
            <a:spAutoFit/>
          </a:bodyPr>
          <a:lstStyle/>
          <a:p>
            <a:pPr algn="ctr">
              <a:lnSpc>
                <a:spcPts val="4727"/>
              </a:lnSpc>
            </a:pPr>
            <a:r>
              <a:rPr lang="en-US" sz="2900" b="true">
                <a:solidFill>
                  <a:srgbClr val="FFFFFF"/>
                </a:solidFill>
                <a:latin typeface="Agrandir Medium"/>
                <a:ea typeface="Agrandir Medium"/>
                <a:cs typeface="Agrandir Medium"/>
                <a:sym typeface="Agrandir Medium"/>
              </a:rPr>
              <a:t>The assistant collects four inputs, runs them through a Fuzzy Cognitive Map, and returns a scored, ranked list of exercise categories. Everything happens through a clean web interface , no spreadsheets, no technical knowledge needed.</a:t>
            </a:r>
          </a:p>
          <a:p>
            <a:pPr algn="ctr" marL="0" indent="0" lvl="0">
              <a:lnSpc>
                <a:spcPts val="4727"/>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AutoShape 3" id="3"/>
          <p:cNvSpPr/>
          <p:nvPr/>
        </p:nvSpPr>
        <p:spPr>
          <a:xfrm>
            <a:off x="3389435" y="4664637"/>
            <a:ext cx="11509129" cy="0"/>
          </a:xfrm>
          <a:prstGeom prst="line">
            <a:avLst/>
          </a:prstGeom>
          <a:ln cap="flat" w="76200">
            <a:gradFill>
              <a:gsLst>
                <a:gs pos="0">
                  <a:srgbClr val="A6A6A6">
                    <a:alpha val="100000"/>
                  </a:srgbClr>
                </a:gs>
                <a:gs pos="100000">
                  <a:srgbClr val="FFFFFF">
                    <a:alpha val="100000"/>
                  </a:srgbClr>
                </a:gs>
              </a:gsLst>
              <a:lin ang="0"/>
            </a:gradFill>
            <a:prstDash val="solid"/>
            <a:headEnd type="none" len="sm" w="sm"/>
            <a:tailEnd type="none" len="sm" w="sm"/>
          </a:ln>
        </p:spPr>
      </p:sp>
      <p:grpSp>
        <p:nvGrpSpPr>
          <p:cNvPr name="Group 4" id="4"/>
          <p:cNvGrpSpPr/>
          <p:nvPr/>
        </p:nvGrpSpPr>
        <p:grpSpPr>
          <a:xfrm rot="0">
            <a:off x="1028700" y="4010668"/>
            <a:ext cx="3683729" cy="4855648"/>
            <a:chOff x="0" y="0"/>
            <a:chExt cx="1002912" cy="1321973"/>
          </a:xfrm>
        </p:grpSpPr>
        <p:sp>
          <p:nvSpPr>
            <p:cNvPr name="Freeform 5" id="5"/>
            <p:cNvSpPr/>
            <p:nvPr/>
          </p:nvSpPr>
          <p:spPr>
            <a:xfrm flipH="false" flipV="false" rot="0">
              <a:off x="0" y="0"/>
              <a:ext cx="1002913" cy="1321973"/>
            </a:xfrm>
            <a:custGeom>
              <a:avLst/>
              <a:gdLst/>
              <a:ahLst/>
              <a:cxnLst/>
              <a:rect r="r" b="b" t="t" l="l"/>
              <a:pathLst>
                <a:path h="1321973" w="100291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gradFill rotWithShape="true">
              <a:gsLst>
                <a:gs pos="0">
                  <a:srgbClr val="A6A6A6">
                    <a:alpha val="100000"/>
                  </a:srgbClr>
                </a:gs>
                <a:gs pos="100000">
                  <a:srgbClr val="FFFFFF">
                    <a:alpha val="100000"/>
                  </a:srgbClr>
                </a:gs>
              </a:gsLst>
              <a:lin ang="0"/>
            </a:gradFill>
          </p:spPr>
        </p:sp>
        <p:sp>
          <p:nvSpPr>
            <p:cNvPr name="TextBox 6" id="6"/>
            <p:cNvSpPr txBox="true"/>
            <p:nvPr/>
          </p:nvSpPr>
          <p:spPr>
            <a:xfrm>
              <a:off x="0" y="28575"/>
              <a:ext cx="1002912" cy="1293398"/>
            </a:xfrm>
            <a:prstGeom prst="rect">
              <a:avLst/>
            </a:prstGeom>
          </p:spPr>
          <p:txBody>
            <a:bodyPr anchor="ctr" rtlCol="false" tIns="50800" lIns="50800" bIns="50800" rIns="50800"/>
            <a:lstStyle/>
            <a:p>
              <a:pPr algn="ctr">
                <a:lnSpc>
                  <a:spcPts val="1925"/>
                </a:lnSpc>
              </a:pPr>
            </a:p>
          </p:txBody>
        </p:sp>
      </p:grpSp>
      <p:grpSp>
        <p:nvGrpSpPr>
          <p:cNvPr name="Group 7" id="7"/>
          <p:cNvGrpSpPr/>
          <p:nvPr/>
        </p:nvGrpSpPr>
        <p:grpSpPr>
          <a:xfrm rot="0">
            <a:off x="5212967" y="4003683"/>
            <a:ext cx="3683729" cy="4855648"/>
            <a:chOff x="0" y="0"/>
            <a:chExt cx="1002912" cy="1321973"/>
          </a:xfrm>
        </p:grpSpPr>
        <p:sp>
          <p:nvSpPr>
            <p:cNvPr name="Freeform 8" id="8"/>
            <p:cNvSpPr/>
            <p:nvPr/>
          </p:nvSpPr>
          <p:spPr>
            <a:xfrm flipH="false" flipV="false" rot="0">
              <a:off x="0" y="0"/>
              <a:ext cx="1002913" cy="1321973"/>
            </a:xfrm>
            <a:custGeom>
              <a:avLst/>
              <a:gdLst/>
              <a:ahLst/>
              <a:cxnLst/>
              <a:rect r="r" b="b" t="t" l="l"/>
              <a:pathLst>
                <a:path h="1321973" w="100291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gradFill rotWithShape="true">
              <a:gsLst>
                <a:gs pos="0">
                  <a:srgbClr val="A6A6A6">
                    <a:alpha val="100000"/>
                  </a:srgbClr>
                </a:gs>
                <a:gs pos="100000">
                  <a:srgbClr val="FFFFFF">
                    <a:alpha val="100000"/>
                  </a:srgbClr>
                </a:gs>
              </a:gsLst>
              <a:lin ang="0"/>
            </a:gradFill>
          </p:spPr>
        </p:sp>
        <p:sp>
          <p:nvSpPr>
            <p:cNvPr name="TextBox 9" id="9"/>
            <p:cNvSpPr txBox="true"/>
            <p:nvPr/>
          </p:nvSpPr>
          <p:spPr>
            <a:xfrm>
              <a:off x="0" y="28575"/>
              <a:ext cx="1002912" cy="1293398"/>
            </a:xfrm>
            <a:prstGeom prst="rect">
              <a:avLst/>
            </a:prstGeom>
          </p:spPr>
          <p:txBody>
            <a:bodyPr anchor="ctr" rtlCol="false" tIns="50800" lIns="50800" bIns="50800" rIns="50800"/>
            <a:lstStyle/>
            <a:p>
              <a:pPr algn="ctr">
                <a:lnSpc>
                  <a:spcPts val="1925"/>
                </a:lnSpc>
              </a:pPr>
            </a:p>
          </p:txBody>
        </p:sp>
      </p:grpSp>
      <p:grpSp>
        <p:nvGrpSpPr>
          <p:cNvPr name="Group 10" id="10"/>
          <p:cNvGrpSpPr/>
          <p:nvPr/>
        </p:nvGrpSpPr>
        <p:grpSpPr>
          <a:xfrm rot="0">
            <a:off x="9394269" y="4003683"/>
            <a:ext cx="3683729" cy="4855648"/>
            <a:chOff x="0" y="0"/>
            <a:chExt cx="1002912" cy="1321973"/>
          </a:xfrm>
        </p:grpSpPr>
        <p:sp>
          <p:nvSpPr>
            <p:cNvPr name="Freeform 11" id="11"/>
            <p:cNvSpPr/>
            <p:nvPr/>
          </p:nvSpPr>
          <p:spPr>
            <a:xfrm flipH="false" flipV="false" rot="0">
              <a:off x="0" y="0"/>
              <a:ext cx="1002913" cy="1321973"/>
            </a:xfrm>
            <a:custGeom>
              <a:avLst/>
              <a:gdLst/>
              <a:ahLst/>
              <a:cxnLst/>
              <a:rect r="r" b="b" t="t" l="l"/>
              <a:pathLst>
                <a:path h="1321973" w="100291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gradFill rotWithShape="true">
              <a:gsLst>
                <a:gs pos="0">
                  <a:srgbClr val="A6A6A6">
                    <a:alpha val="100000"/>
                  </a:srgbClr>
                </a:gs>
                <a:gs pos="100000">
                  <a:srgbClr val="FFFFFF">
                    <a:alpha val="100000"/>
                  </a:srgbClr>
                </a:gs>
              </a:gsLst>
              <a:lin ang="0"/>
            </a:gradFill>
          </p:spPr>
        </p:sp>
        <p:sp>
          <p:nvSpPr>
            <p:cNvPr name="TextBox 12" id="12"/>
            <p:cNvSpPr txBox="true"/>
            <p:nvPr/>
          </p:nvSpPr>
          <p:spPr>
            <a:xfrm>
              <a:off x="0" y="28575"/>
              <a:ext cx="1002912" cy="1293398"/>
            </a:xfrm>
            <a:prstGeom prst="rect">
              <a:avLst/>
            </a:prstGeom>
          </p:spPr>
          <p:txBody>
            <a:bodyPr anchor="ctr" rtlCol="false" tIns="50800" lIns="50800" bIns="50800" rIns="50800"/>
            <a:lstStyle/>
            <a:p>
              <a:pPr algn="ctr">
                <a:lnSpc>
                  <a:spcPts val="1925"/>
                </a:lnSpc>
              </a:pPr>
            </a:p>
          </p:txBody>
        </p:sp>
      </p:grpSp>
      <p:grpSp>
        <p:nvGrpSpPr>
          <p:cNvPr name="Group 13" id="13"/>
          <p:cNvGrpSpPr/>
          <p:nvPr/>
        </p:nvGrpSpPr>
        <p:grpSpPr>
          <a:xfrm rot="0">
            <a:off x="13575571" y="4010668"/>
            <a:ext cx="3683729" cy="4855648"/>
            <a:chOff x="0" y="0"/>
            <a:chExt cx="1002912" cy="1321973"/>
          </a:xfrm>
        </p:grpSpPr>
        <p:sp>
          <p:nvSpPr>
            <p:cNvPr name="Freeform 14" id="14"/>
            <p:cNvSpPr/>
            <p:nvPr/>
          </p:nvSpPr>
          <p:spPr>
            <a:xfrm flipH="false" flipV="false" rot="0">
              <a:off x="0" y="0"/>
              <a:ext cx="1002913" cy="1321973"/>
            </a:xfrm>
            <a:custGeom>
              <a:avLst/>
              <a:gdLst/>
              <a:ahLst/>
              <a:cxnLst/>
              <a:rect r="r" b="b" t="t" l="l"/>
              <a:pathLst>
                <a:path h="1321973" w="100291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gradFill rotWithShape="true">
              <a:gsLst>
                <a:gs pos="0">
                  <a:srgbClr val="A6A6A6">
                    <a:alpha val="100000"/>
                  </a:srgbClr>
                </a:gs>
                <a:gs pos="100000">
                  <a:srgbClr val="FFFFFF">
                    <a:alpha val="100000"/>
                  </a:srgbClr>
                </a:gs>
              </a:gsLst>
              <a:lin ang="0"/>
            </a:gradFill>
          </p:spPr>
        </p:sp>
        <p:sp>
          <p:nvSpPr>
            <p:cNvPr name="TextBox 15" id="15"/>
            <p:cNvSpPr txBox="true"/>
            <p:nvPr/>
          </p:nvSpPr>
          <p:spPr>
            <a:xfrm>
              <a:off x="0" y="28575"/>
              <a:ext cx="1002912" cy="1293398"/>
            </a:xfrm>
            <a:prstGeom prst="rect">
              <a:avLst/>
            </a:prstGeom>
          </p:spPr>
          <p:txBody>
            <a:bodyPr anchor="ctr" rtlCol="false" tIns="50800" lIns="50800" bIns="50800" rIns="50800"/>
            <a:lstStyle/>
            <a:p>
              <a:pPr algn="ctr">
                <a:lnSpc>
                  <a:spcPts val="1925"/>
                </a:lnSpc>
              </a:pPr>
            </a:p>
          </p:txBody>
        </p:sp>
      </p:grpSp>
      <p:sp>
        <p:nvSpPr>
          <p:cNvPr name="Freeform 16" id="16"/>
          <p:cNvSpPr/>
          <p:nvPr/>
        </p:nvSpPr>
        <p:spPr>
          <a:xfrm flipH="false" flipV="false" rot="0">
            <a:off x="2279481" y="5840423"/>
            <a:ext cx="1182168" cy="1182168"/>
          </a:xfrm>
          <a:custGeom>
            <a:avLst/>
            <a:gdLst/>
            <a:ahLst/>
            <a:cxnLst/>
            <a:rect r="r" b="b" t="t" l="l"/>
            <a:pathLst>
              <a:path h="1182168" w="1182168">
                <a:moveTo>
                  <a:pt x="0" y="0"/>
                </a:moveTo>
                <a:lnTo>
                  <a:pt x="1182167" y="0"/>
                </a:lnTo>
                <a:lnTo>
                  <a:pt x="1182167" y="1182168"/>
                </a:lnTo>
                <a:lnTo>
                  <a:pt x="0" y="1182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6318021" y="5618633"/>
            <a:ext cx="1473620" cy="1403958"/>
          </a:xfrm>
          <a:custGeom>
            <a:avLst/>
            <a:gdLst/>
            <a:ahLst/>
            <a:cxnLst/>
            <a:rect r="r" b="b" t="t" l="l"/>
            <a:pathLst>
              <a:path h="1403958" w="1473620">
                <a:moveTo>
                  <a:pt x="0" y="0"/>
                </a:moveTo>
                <a:lnTo>
                  <a:pt x="1473620" y="0"/>
                </a:lnTo>
                <a:lnTo>
                  <a:pt x="1473620" y="1403958"/>
                </a:lnTo>
                <a:lnTo>
                  <a:pt x="0" y="1403958"/>
                </a:lnTo>
                <a:lnTo>
                  <a:pt x="0" y="0"/>
                </a:lnTo>
                <a:close/>
              </a:path>
            </a:pathLst>
          </a:custGeom>
          <a:blipFill>
            <a:blip r:embed="rId5"/>
            <a:stretch>
              <a:fillRect l="0" t="0" r="0" b="0"/>
            </a:stretch>
          </a:blipFill>
        </p:spPr>
      </p:sp>
      <p:sp>
        <p:nvSpPr>
          <p:cNvPr name="Freeform 18" id="18"/>
          <p:cNvSpPr/>
          <p:nvPr/>
        </p:nvSpPr>
        <p:spPr>
          <a:xfrm flipH="false" flipV="false" rot="0">
            <a:off x="10589128" y="5677211"/>
            <a:ext cx="1294011" cy="1345380"/>
          </a:xfrm>
          <a:custGeom>
            <a:avLst/>
            <a:gdLst/>
            <a:ahLst/>
            <a:cxnLst/>
            <a:rect r="r" b="b" t="t" l="l"/>
            <a:pathLst>
              <a:path h="1345380" w="1294011">
                <a:moveTo>
                  <a:pt x="0" y="0"/>
                </a:moveTo>
                <a:lnTo>
                  <a:pt x="1294011" y="0"/>
                </a:lnTo>
                <a:lnTo>
                  <a:pt x="1294011" y="1345380"/>
                </a:lnTo>
                <a:lnTo>
                  <a:pt x="0" y="13453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4714813" y="5677211"/>
            <a:ext cx="1405246" cy="1405246"/>
          </a:xfrm>
          <a:custGeom>
            <a:avLst/>
            <a:gdLst/>
            <a:ahLst/>
            <a:cxnLst/>
            <a:rect r="r" b="b" t="t" l="l"/>
            <a:pathLst>
              <a:path h="1405246" w="1405246">
                <a:moveTo>
                  <a:pt x="0" y="0"/>
                </a:moveTo>
                <a:lnTo>
                  <a:pt x="1405245" y="0"/>
                </a:lnTo>
                <a:lnTo>
                  <a:pt x="1405245" y="1405245"/>
                </a:lnTo>
                <a:lnTo>
                  <a:pt x="0" y="1405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2564792" y="1444865"/>
            <a:ext cx="13158417" cy="1079501"/>
          </a:xfrm>
          <a:prstGeom prst="rect">
            <a:avLst/>
          </a:prstGeom>
        </p:spPr>
        <p:txBody>
          <a:bodyPr anchor="t" rtlCol="false" tIns="0" lIns="0" bIns="0" rIns="0">
            <a:spAutoFit/>
          </a:bodyPr>
          <a:lstStyle/>
          <a:p>
            <a:pPr algn="ctr">
              <a:lnSpc>
                <a:spcPts val="8000"/>
              </a:lnSpc>
            </a:pPr>
            <a:r>
              <a:rPr lang="en-US" sz="8000" spc="-192">
                <a:solidFill>
                  <a:srgbClr val="FFFFFF"/>
                </a:solidFill>
                <a:latin typeface="TT Milks Casual 700 One"/>
                <a:ea typeface="TT Milks Casual 700 One"/>
                <a:cs typeface="TT Milks Casual 700 One"/>
                <a:sym typeface="TT Milks Casual 700 One"/>
              </a:rPr>
              <a:t>INPUTS</a:t>
            </a:r>
          </a:p>
        </p:txBody>
      </p:sp>
      <p:sp>
        <p:nvSpPr>
          <p:cNvPr name="TextBox 21" id="21"/>
          <p:cNvSpPr txBox="true"/>
          <p:nvPr/>
        </p:nvSpPr>
        <p:spPr>
          <a:xfrm rot="0">
            <a:off x="1993572" y="4639797"/>
            <a:ext cx="1753986" cy="1097279"/>
          </a:xfrm>
          <a:prstGeom prst="rect">
            <a:avLst/>
          </a:prstGeom>
        </p:spPr>
        <p:txBody>
          <a:bodyPr anchor="t" rtlCol="false" tIns="0" lIns="0" bIns="0" rIns="0">
            <a:spAutoFit/>
          </a:bodyPr>
          <a:lstStyle/>
          <a:p>
            <a:pPr algn="ctr">
              <a:lnSpc>
                <a:spcPts val="8159"/>
              </a:lnSpc>
            </a:pPr>
            <a:r>
              <a:rPr lang="en-US" sz="8499" spc="-696">
                <a:solidFill>
                  <a:srgbClr val="303030"/>
                </a:solidFill>
                <a:latin typeface="TT Milks Casual 700 One"/>
                <a:ea typeface="TT Milks Casual 700 One"/>
                <a:cs typeface="TT Milks Casual 700 One"/>
                <a:sym typeface="TT Milks Casual 700 One"/>
              </a:rPr>
              <a:t>BMI</a:t>
            </a:r>
          </a:p>
        </p:txBody>
      </p:sp>
      <p:sp>
        <p:nvSpPr>
          <p:cNvPr name="TextBox 22" id="22"/>
          <p:cNvSpPr txBox="true"/>
          <p:nvPr/>
        </p:nvSpPr>
        <p:spPr>
          <a:xfrm rot="0">
            <a:off x="5816234" y="4359761"/>
            <a:ext cx="2477195" cy="1377315"/>
          </a:xfrm>
          <a:prstGeom prst="rect">
            <a:avLst/>
          </a:prstGeom>
        </p:spPr>
        <p:txBody>
          <a:bodyPr anchor="t" rtlCol="false" tIns="0" lIns="0" bIns="0" rIns="0">
            <a:spAutoFit/>
          </a:bodyPr>
          <a:lstStyle/>
          <a:p>
            <a:pPr algn="ctr">
              <a:lnSpc>
                <a:spcPts val="5279"/>
              </a:lnSpc>
            </a:pPr>
            <a:r>
              <a:rPr lang="en-US" sz="5499" spc="-450">
                <a:solidFill>
                  <a:srgbClr val="303030"/>
                </a:solidFill>
                <a:latin typeface="TT Milks Casual 700 One"/>
                <a:ea typeface="TT Milks Casual 700 One"/>
                <a:cs typeface="TT Milks Casual 700 One"/>
                <a:sym typeface="TT Milks Casual 700 One"/>
              </a:rPr>
              <a:t>FITNESS LEVEL</a:t>
            </a:r>
          </a:p>
        </p:txBody>
      </p:sp>
      <p:sp>
        <p:nvSpPr>
          <p:cNvPr name="TextBox 23" id="23"/>
          <p:cNvSpPr txBox="true"/>
          <p:nvPr/>
        </p:nvSpPr>
        <p:spPr>
          <a:xfrm rot="0">
            <a:off x="9877771" y="4359761"/>
            <a:ext cx="2721343" cy="1377315"/>
          </a:xfrm>
          <a:prstGeom prst="rect">
            <a:avLst/>
          </a:prstGeom>
        </p:spPr>
        <p:txBody>
          <a:bodyPr anchor="t" rtlCol="false" tIns="0" lIns="0" bIns="0" rIns="0">
            <a:spAutoFit/>
          </a:bodyPr>
          <a:lstStyle/>
          <a:p>
            <a:pPr algn="ctr">
              <a:lnSpc>
                <a:spcPts val="5279"/>
              </a:lnSpc>
            </a:pPr>
            <a:r>
              <a:rPr lang="en-US" sz="5499" spc="-450">
                <a:solidFill>
                  <a:srgbClr val="303030"/>
                </a:solidFill>
                <a:latin typeface="TT Milks Casual 700 One"/>
                <a:ea typeface="TT Milks Casual 700 One"/>
                <a:cs typeface="TT Milks Casual 700 One"/>
                <a:sym typeface="TT Milks Casual 700 One"/>
              </a:rPr>
              <a:t>MUSCLE  GAIN </a:t>
            </a:r>
          </a:p>
        </p:txBody>
      </p:sp>
      <p:sp>
        <p:nvSpPr>
          <p:cNvPr name="TextBox 24" id="24"/>
          <p:cNvSpPr txBox="true"/>
          <p:nvPr/>
        </p:nvSpPr>
        <p:spPr>
          <a:xfrm rot="0">
            <a:off x="14059073" y="4359761"/>
            <a:ext cx="2721343" cy="1377315"/>
          </a:xfrm>
          <a:prstGeom prst="rect">
            <a:avLst/>
          </a:prstGeom>
        </p:spPr>
        <p:txBody>
          <a:bodyPr anchor="t" rtlCol="false" tIns="0" lIns="0" bIns="0" rIns="0">
            <a:spAutoFit/>
          </a:bodyPr>
          <a:lstStyle/>
          <a:p>
            <a:pPr algn="ctr">
              <a:lnSpc>
                <a:spcPts val="5279"/>
              </a:lnSpc>
            </a:pPr>
            <a:r>
              <a:rPr lang="en-US" sz="5499" spc="-450">
                <a:solidFill>
                  <a:srgbClr val="303030"/>
                </a:solidFill>
                <a:latin typeface="TT Milks Casual 700 One"/>
                <a:ea typeface="TT Milks Casual 700 One"/>
                <a:cs typeface="TT Milks Casual 700 One"/>
                <a:sym typeface="TT Milks Casual 700 One"/>
              </a:rPr>
              <a:t>WEIGHT LOSS</a:t>
            </a:r>
          </a:p>
        </p:txBody>
      </p:sp>
      <p:sp>
        <p:nvSpPr>
          <p:cNvPr name="TextBox 25" id="25"/>
          <p:cNvSpPr txBox="true"/>
          <p:nvPr/>
        </p:nvSpPr>
        <p:spPr>
          <a:xfrm rot="0">
            <a:off x="1269296" y="7087086"/>
            <a:ext cx="3202536" cy="1611629"/>
          </a:xfrm>
          <a:prstGeom prst="rect">
            <a:avLst/>
          </a:prstGeom>
        </p:spPr>
        <p:txBody>
          <a:bodyPr anchor="t" rtlCol="false" tIns="0" lIns="0" bIns="0" rIns="0">
            <a:spAutoFit/>
          </a:bodyPr>
          <a:lstStyle/>
          <a:p>
            <a:pPr algn="just">
              <a:lnSpc>
                <a:spcPts val="2520"/>
              </a:lnSpc>
              <a:spcBef>
                <a:spcPct val="0"/>
              </a:spcBef>
            </a:pPr>
            <a:r>
              <a:rPr lang="en-US" sz="1800" spc="-30">
                <a:solidFill>
                  <a:srgbClr val="303030"/>
                </a:solidFill>
                <a:latin typeface="Agrandir"/>
                <a:ea typeface="Agrandir"/>
                <a:cs typeface="Agrandir"/>
                <a:sym typeface="Agrandir"/>
              </a:rPr>
              <a:t>U</a:t>
            </a:r>
            <a:r>
              <a:rPr lang="en-US" sz="1800" spc="-30">
                <a:solidFill>
                  <a:srgbClr val="303030"/>
                </a:solidFill>
                <a:latin typeface="Agrandir"/>
                <a:ea typeface="Agrandir"/>
                <a:cs typeface="Agrandir"/>
                <a:sym typeface="Agrandir"/>
              </a:rPr>
              <a:t>ser enters their BMI value; the interface converts it to a 0–1 scale.  1 = very high BMI0 = very low BMI</a:t>
            </a:r>
          </a:p>
          <a:p>
            <a:pPr algn="just">
              <a:lnSpc>
                <a:spcPts val="2520"/>
              </a:lnSpc>
              <a:spcBef>
                <a:spcPct val="0"/>
              </a:spcBef>
            </a:pPr>
          </a:p>
        </p:txBody>
      </p:sp>
      <p:sp>
        <p:nvSpPr>
          <p:cNvPr name="TextBox 26" id="26"/>
          <p:cNvSpPr txBox="true"/>
          <p:nvPr/>
        </p:nvSpPr>
        <p:spPr>
          <a:xfrm rot="0">
            <a:off x="5453563" y="7087086"/>
            <a:ext cx="3202536" cy="1925954"/>
          </a:xfrm>
          <a:prstGeom prst="rect">
            <a:avLst/>
          </a:prstGeom>
        </p:spPr>
        <p:txBody>
          <a:bodyPr anchor="t" rtlCol="false" tIns="0" lIns="0" bIns="0" rIns="0">
            <a:spAutoFit/>
          </a:bodyPr>
          <a:lstStyle/>
          <a:p>
            <a:pPr algn="just">
              <a:lnSpc>
                <a:spcPts val="2520"/>
              </a:lnSpc>
              <a:spcBef>
                <a:spcPct val="0"/>
              </a:spcBef>
            </a:pPr>
            <a:r>
              <a:rPr lang="en-US" sz="1800" spc="-30">
                <a:solidFill>
                  <a:srgbClr val="303030"/>
                </a:solidFill>
                <a:latin typeface="Agrandir"/>
                <a:ea typeface="Agrandir"/>
                <a:cs typeface="Agrandir"/>
                <a:sym typeface="Agrandir"/>
              </a:rPr>
              <a:t>H</a:t>
            </a:r>
            <a:r>
              <a:rPr lang="en-US" sz="1800" spc="-30">
                <a:solidFill>
                  <a:srgbClr val="303030"/>
                </a:solidFill>
                <a:latin typeface="Agrandir"/>
                <a:ea typeface="Agrandir"/>
                <a:cs typeface="Agrandir"/>
                <a:sym typeface="Agrandir"/>
              </a:rPr>
              <a:t>ow experienced the user is with exercise, from complete beginner to professional level. 0 = no experience1 = professional / expert</a:t>
            </a:r>
          </a:p>
          <a:p>
            <a:pPr algn="just">
              <a:lnSpc>
                <a:spcPts val="2520"/>
              </a:lnSpc>
              <a:spcBef>
                <a:spcPct val="0"/>
              </a:spcBef>
            </a:pPr>
            <a:r>
              <a:rPr lang="en-US" sz="1800" spc="-30">
                <a:solidFill>
                  <a:srgbClr val="303030"/>
                </a:solidFill>
                <a:latin typeface="Agrandir"/>
                <a:ea typeface="Agrandir"/>
                <a:cs typeface="Agrandir"/>
                <a:sym typeface="Agrandir"/>
              </a:rPr>
              <a:t> </a:t>
            </a:r>
          </a:p>
        </p:txBody>
      </p:sp>
      <p:sp>
        <p:nvSpPr>
          <p:cNvPr name="TextBox 27" id="27"/>
          <p:cNvSpPr txBox="true"/>
          <p:nvPr/>
        </p:nvSpPr>
        <p:spPr>
          <a:xfrm rot="0">
            <a:off x="9875462" y="7087086"/>
            <a:ext cx="2721343" cy="1611629"/>
          </a:xfrm>
          <a:prstGeom prst="rect">
            <a:avLst/>
          </a:prstGeom>
        </p:spPr>
        <p:txBody>
          <a:bodyPr anchor="t" rtlCol="false" tIns="0" lIns="0" bIns="0" rIns="0">
            <a:spAutoFit/>
          </a:bodyPr>
          <a:lstStyle/>
          <a:p>
            <a:pPr algn="just">
              <a:lnSpc>
                <a:spcPts val="2520"/>
              </a:lnSpc>
              <a:spcBef>
                <a:spcPct val="0"/>
              </a:spcBef>
            </a:pPr>
            <a:r>
              <a:rPr lang="en-US" sz="1800" spc="-30">
                <a:solidFill>
                  <a:srgbClr val="303030"/>
                </a:solidFill>
                <a:latin typeface="Agrandir"/>
                <a:ea typeface="Agrandir"/>
                <a:cs typeface="Agrandir"/>
                <a:sym typeface="Agrandir"/>
              </a:rPr>
              <a:t>H</a:t>
            </a:r>
            <a:r>
              <a:rPr lang="en-US" sz="1800" spc="-30">
                <a:solidFill>
                  <a:srgbClr val="303030"/>
                </a:solidFill>
                <a:latin typeface="Agrandir"/>
                <a:ea typeface="Agrandir"/>
                <a:cs typeface="Agrandir"/>
                <a:sym typeface="Agrandir"/>
              </a:rPr>
              <a:t>ow strongly the user wants to gain muscle mass as a goal. 0 = not a goal1 = primary goal</a:t>
            </a:r>
          </a:p>
          <a:p>
            <a:pPr algn="just">
              <a:lnSpc>
                <a:spcPts val="2520"/>
              </a:lnSpc>
              <a:spcBef>
                <a:spcPct val="0"/>
              </a:spcBef>
            </a:pPr>
            <a:r>
              <a:rPr lang="en-US" sz="1800" spc="-30">
                <a:solidFill>
                  <a:srgbClr val="303030"/>
                </a:solidFill>
                <a:latin typeface="Agrandir"/>
                <a:ea typeface="Agrandir"/>
                <a:cs typeface="Agrandir"/>
                <a:sym typeface="Agrandir"/>
              </a:rPr>
              <a:t> </a:t>
            </a:r>
          </a:p>
        </p:txBody>
      </p:sp>
      <p:sp>
        <p:nvSpPr>
          <p:cNvPr name="TextBox 28" id="28"/>
          <p:cNvSpPr txBox="true"/>
          <p:nvPr/>
        </p:nvSpPr>
        <p:spPr>
          <a:xfrm rot="0">
            <a:off x="14056764" y="7087086"/>
            <a:ext cx="2721343" cy="1611629"/>
          </a:xfrm>
          <a:prstGeom prst="rect">
            <a:avLst/>
          </a:prstGeom>
        </p:spPr>
        <p:txBody>
          <a:bodyPr anchor="t" rtlCol="false" tIns="0" lIns="0" bIns="0" rIns="0">
            <a:spAutoFit/>
          </a:bodyPr>
          <a:lstStyle/>
          <a:p>
            <a:pPr algn="just">
              <a:lnSpc>
                <a:spcPts val="2520"/>
              </a:lnSpc>
              <a:spcBef>
                <a:spcPct val="0"/>
              </a:spcBef>
            </a:pPr>
            <a:r>
              <a:rPr lang="en-US" sz="1800" spc="-30">
                <a:solidFill>
                  <a:srgbClr val="303030"/>
                </a:solidFill>
                <a:latin typeface="Agrandir"/>
                <a:ea typeface="Agrandir"/>
                <a:cs typeface="Agrandir"/>
                <a:sym typeface="Agrandir"/>
              </a:rPr>
              <a:t>H</a:t>
            </a:r>
            <a:r>
              <a:rPr lang="en-US" sz="1800" spc="-30">
                <a:solidFill>
                  <a:srgbClr val="303030"/>
                </a:solidFill>
                <a:latin typeface="Agrandir"/>
                <a:ea typeface="Agrandir"/>
                <a:cs typeface="Agrandir"/>
                <a:sym typeface="Agrandir"/>
              </a:rPr>
              <a:t>ow strongly the user wants to lose weight as a goal. 0 = not a goal1 = primary goal</a:t>
            </a:r>
          </a:p>
          <a:p>
            <a:pPr algn="just">
              <a:lnSpc>
                <a:spcPts val="2520"/>
              </a:lnSpc>
              <a:spcBef>
                <a:spcPct val="0"/>
              </a:spcBef>
            </a:pPr>
            <a:r>
              <a:rPr lang="en-US" sz="1800" spc="-30">
                <a:solidFill>
                  <a:srgbClr val="303030"/>
                </a:solidFill>
                <a:latin typeface="Agrandir"/>
                <a:ea typeface="Agrandir"/>
                <a:cs typeface="Agrandir"/>
                <a:sym typeface="Agrandir"/>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TextBox 3" id="3"/>
          <p:cNvSpPr txBox="true"/>
          <p:nvPr/>
        </p:nvSpPr>
        <p:spPr>
          <a:xfrm rot="0">
            <a:off x="1028700" y="2727068"/>
            <a:ext cx="7639050" cy="2711450"/>
          </a:xfrm>
          <a:prstGeom prst="rect">
            <a:avLst/>
          </a:prstGeom>
        </p:spPr>
        <p:txBody>
          <a:bodyPr anchor="t" rtlCol="false" tIns="0" lIns="0" bIns="0" rIns="0">
            <a:spAutoFit/>
          </a:bodyPr>
          <a:lstStyle/>
          <a:p>
            <a:pPr algn="l">
              <a:lnSpc>
                <a:spcPts val="6999"/>
              </a:lnSpc>
            </a:pPr>
            <a:r>
              <a:rPr lang="en-US" sz="6999" spc="-167">
                <a:solidFill>
                  <a:srgbClr val="FFFFFF"/>
                </a:solidFill>
                <a:latin typeface="TT Milks Casual 700 One"/>
                <a:ea typeface="TT Milks Casual 700 One"/>
                <a:cs typeface="TT Milks Casual 700 One"/>
                <a:sym typeface="TT Milks Casual 700 One"/>
              </a:rPr>
              <a:t>TYPES OF TRAINING: WHICH ONE IS FOR YOU? </a:t>
            </a:r>
          </a:p>
        </p:txBody>
      </p:sp>
      <p:sp>
        <p:nvSpPr>
          <p:cNvPr name="TextBox 4" id="4"/>
          <p:cNvSpPr txBox="true"/>
          <p:nvPr/>
        </p:nvSpPr>
        <p:spPr>
          <a:xfrm rot="0">
            <a:off x="1028700" y="5583931"/>
            <a:ext cx="7639050" cy="2753740"/>
          </a:xfrm>
          <a:prstGeom prst="rect">
            <a:avLst/>
          </a:prstGeom>
        </p:spPr>
        <p:txBody>
          <a:bodyPr anchor="t" rtlCol="false" tIns="0" lIns="0" bIns="0" rIns="0">
            <a:spAutoFit/>
          </a:bodyPr>
          <a:lstStyle/>
          <a:p>
            <a:pPr algn="l" marL="0" indent="0" lvl="0">
              <a:lnSpc>
                <a:spcPts val="3097"/>
              </a:lnSpc>
              <a:spcBef>
                <a:spcPct val="0"/>
              </a:spcBef>
            </a:pPr>
            <a:r>
              <a:rPr lang="en-US" b="true" sz="1900">
                <a:solidFill>
                  <a:srgbClr val="FFFFFF"/>
                </a:solidFill>
                <a:latin typeface="Agrandir Medium"/>
                <a:ea typeface="Agrandir Medium"/>
                <a:cs typeface="Agrandir Medium"/>
                <a:sym typeface="Agrandir Medium"/>
              </a:rPr>
              <a:t>Th</a:t>
            </a:r>
            <a:r>
              <a:rPr lang="en-US" b="true" sz="1900" strike="noStrike" u="none">
                <a:solidFill>
                  <a:srgbClr val="FFFFFF"/>
                </a:solidFill>
                <a:latin typeface="Agrandir Medium"/>
                <a:ea typeface="Agrandir Medium"/>
                <a:cs typeface="Agrandir Medium"/>
                <a:sym typeface="Agrandir Medium"/>
              </a:rPr>
              <a:t>e system generates recommendations for four different types of exercises. Each output is a value between 0 and 1. (0-irrelevant, 1-strongly recommended) The outputs are not mutually exclusive; a user can receive high scores for multiple types at the same time, which means the system is recommending a combination.</a:t>
            </a:r>
          </a:p>
          <a:p>
            <a:pPr algn="l" marL="0" indent="0" lvl="0">
              <a:lnSpc>
                <a:spcPts val="3097"/>
              </a:lnSpc>
              <a:spcBef>
                <a:spcPct val="0"/>
              </a:spcBef>
            </a:pPr>
          </a:p>
        </p:txBody>
      </p:sp>
      <p:grpSp>
        <p:nvGrpSpPr>
          <p:cNvPr name="Group 5" id="5"/>
          <p:cNvGrpSpPr/>
          <p:nvPr/>
        </p:nvGrpSpPr>
        <p:grpSpPr>
          <a:xfrm rot="0">
            <a:off x="9793043" y="1028700"/>
            <a:ext cx="7466257" cy="1978669"/>
            <a:chOff x="0" y="0"/>
            <a:chExt cx="2864425" cy="759115"/>
          </a:xfrm>
        </p:grpSpPr>
        <p:sp>
          <p:nvSpPr>
            <p:cNvPr name="Freeform 6" id="6"/>
            <p:cNvSpPr/>
            <p:nvPr/>
          </p:nvSpPr>
          <p:spPr>
            <a:xfrm flipH="false" flipV="false" rot="0">
              <a:off x="0" y="0"/>
              <a:ext cx="2864425" cy="759115"/>
            </a:xfrm>
            <a:custGeom>
              <a:avLst/>
              <a:gdLst/>
              <a:ahLst/>
              <a:cxnLst/>
              <a:rect r="r" b="b" t="t" l="l"/>
              <a:pathLst>
                <a:path h="759115" w="2864425">
                  <a:moveTo>
                    <a:pt x="18665" y="0"/>
                  </a:moveTo>
                  <a:lnTo>
                    <a:pt x="2845761" y="0"/>
                  </a:lnTo>
                  <a:cubicBezTo>
                    <a:pt x="2850711" y="0"/>
                    <a:pt x="2855458" y="1966"/>
                    <a:pt x="2858958" y="5467"/>
                  </a:cubicBezTo>
                  <a:cubicBezTo>
                    <a:pt x="2862459" y="8967"/>
                    <a:pt x="2864425" y="13714"/>
                    <a:pt x="2864425" y="18665"/>
                  </a:cubicBezTo>
                  <a:lnTo>
                    <a:pt x="2864425" y="740451"/>
                  </a:lnTo>
                  <a:cubicBezTo>
                    <a:pt x="2864425" y="750759"/>
                    <a:pt x="2856069" y="759115"/>
                    <a:pt x="2845761" y="759115"/>
                  </a:cubicBezTo>
                  <a:lnTo>
                    <a:pt x="18665" y="759115"/>
                  </a:lnTo>
                  <a:cubicBezTo>
                    <a:pt x="13714" y="759115"/>
                    <a:pt x="8967" y="757149"/>
                    <a:pt x="5467" y="753649"/>
                  </a:cubicBezTo>
                  <a:cubicBezTo>
                    <a:pt x="1966" y="750148"/>
                    <a:pt x="0" y="745401"/>
                    <a:pt x="0" y="740451"/>
                  </a:cubicBezTo>
                  <a:lnTo>
                    <a:pt x="0" y="18665"/>
                  </a:lnTo>
                  <a:cubicBezTo>
                    <a:pt x="0" y="8356"/>
                    <a:pt x="8356" y="0"/>
                    <a:pt x="18665"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7" id="7"/>
            <p:cNvSpPr txBox="true"/>
            <p:nvPr/>
          </p:nvSpPr>
          <p:spPr>
            <a:xfrm>
              <a:off x="0" y="28575"/>
              <a:ext cx="2864425" cy="730540"/>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8" id="8"/>
          <p:cNvGrpSpPr/>
          <p:nvPr/>
        </p:nvGrpSpPr>
        <p:grpSpPr>
          <a:xfrm rot="0">
            <a:off x="9793043" y="3109899"/>
            <a:ext cx="7466257" cy="1978669"/>
            <a:chOff x="0" y="0"/>
            <a:chExt cx="2864425" cy="759115"/>
          </a:xfrm>
        </p:grpSpPr>
        <p:sp>
          <p:nvSpPr>
            <p:cNvPr name="Freeform 9" id="9"/>
            <p:cNvSpPr/>
            <p:nvPr/>
          </p:nvSpPr>
          <p:spPr>
            <a:xfrm flipH="false" flipV="false" rot="0">
              <a:off x="0" y="0"/>
              <a:ext cx="2864425" cy="759115"/>
            </a:xfrm>
            <a:custGeom>
              <a:avLst/>
              <a:gdLst/>
              <a:ahLst/>
              <a:cxnLst/>
              <a:rect r="r" b="b" t="t" l="l"/>
              <a:pathLst>
                <a:path h="759115" w="2864425">
                  <a:moveTo>
                    <a:pt x="18665" y="0"/>
                  </a:moveTo>
                  <a:lnTo>
                    <a:pt x="2845761" y="0"/>
                  </a:lnTo>
                  <a:cubicBezTo>
                    <a:pt x="2850711" y="0"/>
                    <a:pt x="2855458" y="1966"/>
                    <a:pt x="2858958" y="5467"/>
                  </a:cubicBezTo>
                  <a:cubicBezTo>
                    <a:pt x="2862459" y="8967"/>
                    <a:pt x="2864425" y="13714"/>
                    <a:pt x="2864425" y="18665"/>
                  </a:cubicBezTo>
                  <a:lnTo>
                    <a:pt x="2864425" y="740451"/>
                  </a:lnTo>
                  <a:cubicBezTo>
                    <a:pt x="2864425" y="750759"/>
                    <a:pt x="2856069" y="759115"/>
                    <a:pt x="2845761" y="759115"/>
                  </a:cubicBezTo>
                  <a:lnTo>
                    <a:pt x="18665" y="759115"/>
                  </a:lnTo>
                  <a:cubicBezTo>
                    <a:pt x="13714" y="759115"/>
                    <a:pt x="8967" y="757149"/>
                    <a:pt x="5467" y="753649"/>
                  </a:cubicBezTo>
                  <a:cubicBezTo>
                    <a:pt x="1966" y="750148"/>
                    <a:pt x="0" y="745401"/>
                    <a:pt x="0" y="740451"/>
                  </a:cubicBezTo>
                  <a:lnTo>
                    <a:pt x="0" y="18665"/>
                  </a:lnTo>
                  <a:cubicBezTo>
                    <a:pt x="0" y="8356"/>
                    <a:pt x="8356" y="0"/>
                    <a:pt x="18665"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0" id="10"/>
            <p:cNvSpPr txBox="true"/>
            <p:nvPr/>
          </p:nvSpPr>
          <p:spPr>
            <a:xfrm>
              <a:off x="0" y="28575"/>
              <a:ext cx="2864425" cy="730540"/>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11" id="11"/>
          <p:cNvGrpSpPr/>
          <p:nvPr/>
        </p:nvGrpSpPr>
        <p:grpSpPr>
          <a:xfrm rot="0">
            <a:off x="9793043" y="5193191"/>
            <a:ext cx="7466257" cy="1978669"/>
            <a:chOff x="0" y="0"/>
            <a:chExt cx="2864425" cy="759115"/>
          </a:xfrm>
        </p:grpSpPr>
        <p:sp>
          <p:nvSpPr>
            <p:cNvPr name="Freeform 12" id="12"/>
            <p:cNvSpPr/>
            <p:nvPr/>
          </p:nvSpPr>
          <p:spPr>
            <a:xfrm flipH="false" flipV="false" rot="0">
              <a:off x="0" y="0"/>
              <a:ext cx="2864425" cy="759115"/>
            </a:xfrm>
            <a:custGeom>
              <a:avLst/>
              <a:gdLst/>
              <a:ahLst/>
              <a:cxnLst/>
              <a:rect r="r" b="b" t="t" l="l"/>
              <a:pathLst>
                <a:path h="759115" w="2864425">
                  <a:moveTo>
                    <a:pt x="18665" y="0"/>
                  </a:moveTo>
                  <a:lnTo>
                    <a:pt x="2845761" y="0"/>
                  </a:lnTo>
                  <a:cubicBezTo>
                    <a:pt x="2850711" y="0"/>
                    <a:pt x="2855458" y="1966"/>
                    <a:pt x="2858958" y="5467"/>
                  </a:cubicBezTo>
                  <a:cubicBezTo>
                    <a:pt x="2862459" y="8967"/>
                    <a:pt x="2864425" y="13714"/>
                    <a:pt x="2864425" y="18665"/>
                  </a:cubicBezTo>
                  <a:lnTo>
                    <a:pt x="2864425" y="740451"/>
                  </a:lnTo>
                  <a:cubicBezTo>
                    <a:pt x="2864425" y="750759"/>
                    <a:pt x="2856069" y="759115"/>
                    <a:pt x="2845761" y="759115"/>
                  </a:cubicBezTo>
                  <a:lnTo>
                    <a:pt x="18665" y="759115"/>
                  </a:lnTo>
                  <a:cubicBezTo>
                    <a:pt x="13714" y="759115"/>
                    <a:pt x="8967" y="757149"/>
                    <a:pt x="5467" y="753649"/>
                  </a:cubicBezTo>
                  <a:cubicBezTo>
                    <a:pt x="1966" y="750148"/>
                    <a:pt x="0" y="745401"/>
                    <a:pt x="0" y="740451"/>
                  </a:cubicBezTo>
                  <a:lnTo>
                    <a:pt x="0" y="18665"/>
                  </a:lnTo>
                  <a:cubicBezTo>
                    <a:pt x="0" y="8356"/>
                    <a:pt x="8356" y="0"/>
                    <a:pt x="18665"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3" id="13"/>
            <p:cNvSpPr txBox="true"/>
            <p:nvPr/>
          </p:nvSpPr>
          <p:spPr>
            <a:xfrm>
              <a:off x="0" y="28575"/>
              <a:ext cx="2864425" cy="730540"/>
            </a:xfrm>
            <a:prstGeom prst="rect">
              <a:avLst/>
            </a:prstGeom>
          </p:spPr>
          <p:txBody>
            <a:bodyPr anchor="ctr" rtlCol="false" tIns="50800" lIns="50800" bIns="50800" rIns="50800"/>
            <a:lstStyle/>
            <a:p>
              <a:pPr algn="ctr" marL="0" indent="0" lvl="0">
                <a:lnSpc>
                  <a:spcPts val="1925"/>
                </a:lnSpc>
                <a:spcBef>
                  <a:spcPct val="0"/>
                </a:spcBef>
              </a:pPr>
            </a:p>
          </p:txBody>
        </p:sp>
      </p:grpSp>
      <p:sp>
        <p:nvSpPr>
          <p:cNvPr name="TextBox 14" id="14"/>
          <p:cNvSpPr txBox="true"/>
          <p:nvPr/>
        </p:nvSpPr>
        <p:spPr>
          <a:xfrm rot="0">
            <a:off x="10418597" y="5983131"/>
            <a:ext cx="1927177" cy="573512"/>
          </a:xfrm>
          <a:prstGeom prst="rect">
            <a:avLst/>
          </a:prstGeom>
        </p:spPr>
        <p:txBody>
          <a:bodyPr anchor="t" rtlCol="false" tIns="0" lIns="0" bIns="0" rIns="0">
            <a:spAutoFit/>
          </a:bodyPr>
          <a:lstStyle/>
          <a:p>
            <a:pPr algn="l" marL="0" indent="0" lvl="0">
              <a:lnSpc>
                <a:spcPts val="4292"/>
              </a:lnSpc>
              <a:spcBef>
                <a:spcPct val="0"/>
              </a:spcBef>
            </a:pPr>
            <a:r>
              <a:rPr lang="en-US" sz="4471" spc="-429">
                <a:solidFill>
                  <a:srgbClr val="303030"/>
                </a:solidFill>
                <a:latin typeface="Public Sans"/>
                <a:ea typeface="Public Sans"/>
                <a:cs typeface="Public Sans"/>
                <a:sym typeface="Public Sans"/>
              </a:rPr>
              <a:t>HIIT</a:t>
            </a:r>
          </a:p>
        </p:txBody>
      </p:sp>
      <p:sp>
        <p:nvSpPr>
          <p:cNvPr name="TextBox 15" id="15"/>
          <p:cNvSpPr txBox="true"/>
          <p:nvPr/>
        </p:nvSpPr>
        <p:spPr>
          <a:xfrm rot="0">
            <a:off x="12551930" y="5330622"/>
            <a:ext cx="4150568" cy="1678505"/>
          </a:xfrm>
          <a:prstGeom prst="rect">
            <a:avLst/>
          </a:prstGeom>
        </p:spPr>
        <p:txBody>
          <a:bodyPr anchor="t" rtlCol="false" tIns="0" lIns="0" bIns="0" rIns="0">
            <a:spAutoFit/>
          </a:bodyPr>
          <a:lstStyle/>
          <a:p>
            <a:pPr algn="l" marL="0" indent="0" lvl="0">
              <a:lnSpc>
                <a:spcPts val="2211"/>
              </a:lnSpc>
              <a:spcBef>
                <a:spcPct val="0"/>
              </a:spcBef>
            </a:pPr>
            <a:r>
              <a:rPr lang="en-US" b="true" sz="1356">
                <a:solidFill>
                  <a:srgbClr val="303030"/>
                </a:solidFill>
                <a:latin typeface="Agrandir Medium"/>
                <a:ea typeface="Agrandir Medium"/>
                <a:cs typeface="Agrandir Medium"/>
                <a:sym typeface="Agrandir Medium"/>
              </a:rPr>
              <a:t>H</a:t>
            </a:r>
            <a:r>
              <a:rPr lang="en-US" b="true" sz="1356" strike="noStrike" u="none">
                <a:solidFill>
                  <a:srgbClr val="303030"/>
                </a:solidFill>
                <a:latin typeface="Agrandir Medium"/>
                <a:ea typeface="Agrandir Medium"/>
                <a:cs typeface="Agrandir Medium"/>
                <a:sym typeface="Agrandir Medium"/>
              </a:rPr>
              <a:t>igh-Intensity Interval Training — short bursts of intense effort alternated with rest periods. Most suitable for users with a good fitness base. Not recommended for high BMI or complete beginners due to injury and cardiovascular risk.</a:t>
            </a:r>
          </a:p>
          <a:p>
            <a:pPr algn="l" marL="0" indent="0" lvl="0">
              <a:lnSpc>
                <a:spcPts val="2211"/>
              </a:lnSpc>
              <a:spcBef>
                <a:spcPct val="0"/>
              </a:spcBef>
            </a:pPr>
            <a:r>
              <a:rPr lang="en-US" b="true" sz="1356" strike="noStrike" u="none">
                <a:solidFill>
                  <a:srgbClr val="303030"/>
                </a:solidFill>
                <a:latin typeface="Agrandir Medium"/>
                <a:ea typeface="Agrandir Medium"/>
                <a:cs typeface="Agrandir Medium"/>
                <a:sym typeface="Agrandir Medium"/>
              </a:rPr>
              <a:t> </a:t>
            </a:r>
          </a:p>
        </p:txBody>
      </p:sp>
      <p:sp>
        <p:nvSpPr>
          <p:cNvPr name="TextBox 16" id="16"/>
          <p:cNvSpPr txBox="true"/>
          <p:nvPr/>
        </p:nvSpPr>
        <p:spPr>
          <a:xfrm rot="0">
            <a:off x="10069402" y="3874695"/>
            <a:ext cx="2276373" cy="525277"/>
          </a:xfrm>
          <a:prstGeom prst="rect">
            <a:avLst/>
          </a:prstGeom>
        </p:spPr>
        <p:txBody>
          <a:bodyPr anchor="t" rtlCol="false" tIns="0" lIns="0" bIns="0" rIns="0">
            <a:spAutoFit/>
          </a:bodyPr>
          <a:lstStyle/>
          <a:p>
            <a:pPr algn="l" marL="0" indent="0" lvl="0">
              <a:lnSpc>
                <a:spcPts val="3823"/>
              </a:lnSpc>
              <a:spcBef>
                <a:spcPct val="0"/>
              </a:spcBef>
            </a:pPr>
            <a:r>
              <a:rPr lang="en-US" sz="3983" spc="-382">
                <a:solidFill>
                  <a:srgbClr val="303030"/>
                </a:solidFill>
                <a:latin typeface="Public Sans"/>
                <a:ea typeface="Public Sans"/>
                <a:cs typeface="Public Sans"/>
                <a:sym typeface="Public Sans"/>
              </a:rPr>
              <a:t>Strength</a:t>
            </a:r>
          </a:p>
        </p:txBody>
      </p:sp>
      <p:sp>
        <p:nvSpPr>
          <p:cNvPr name="TextBox 17" id="17"/>
          <p:cNvSpPr txBox="true"/>
          <p:nvPr/>
        </p:nvSpPr>
        <p:spPr>
          <a:xfrm rot="0">
            <a:off x="12551930" y="3350469"/>
            <a:ext cx="4150568" cy="1402280"/>
          </a:xfrm>
          <a:prstGeom prst="rect">
            <a:avLst/>
          </a:prstGeom>
        </p:spPr>
        <p:txBody>
          <a:bodyPr anchor="t" rtlCol="false" tIns="0" lIns="0" bIns="0" rIns="0">
            <a:spAutoFit/>
          </a:bodyPr>
          <a:lstStyle/>
          <a:p>
            <a:pPr algn="l" marL="0" indent="0" lvl="0">
              <a:lnSpc>
                <a:spcPts val="2211"/>
              </a:lnSpc>
              <a:spcBef>
                <a:spcPct val="0"/>
              </a:spcBef>
            </a:pPr>
            <a:r>
              <a:rPr lang="en-US" b="true" sz="1356">
                <a:solidFill>
                  <a:srgbClr val="303030"/>
                </a:solidFill>
                <a:latin typeface="Agrandir Medium"/>
                <a:ea typeface="Agrandir Medium"/>
                <a:cs typeface="Agrandir Medium"/>
                <a:sym typeface="Agrandir Medium"/>
              </a:rPr>
              <a:t>R</a:t>
            </a:r>
            <a:r>
              <a:rPr lang="en-US" b="true" sz="1356" strike="noStrike" u="none">
                <a:solidFill>
                  <a:srgbClr val="303030"/>
                </a:solidFill>
                <a:latin typeface="Agrandir Medium"/>
                <a:ea typeface="Agrandir Medium"/>
                <a:cs typeface="Agrandir Medium"/>
                <a:sym typeface="Agrandir Medium"/>
              </a:rPr>
              <a:t>esistance and weight training exercises aimed at building muscle and increasing metabolic rate. Central recommendation for users with a muscle gain goal; also supports weight maintenance.</a:t>
            </a:r>
          </a:p>
          <a:p>
            <a:pPr algn="l" marL="0" indent="0" lvl="0">
              <a:lnSpc>
                <a:spcPts val="2211"/>
              </a:lnSpc>
              <a:spcBef>
                <a:spcPct val="0"/>
              </a:spcBef>
            </a:pPr>
          </a:p>
        </p:txBody>
      </p:sp>
      <p:sp>
        <p:nvSpPr>
          <p:cNvPr name="TextBox 18" id="18"/>
          <p:cNvSpPr txBox="true"/>
          <p:nvPr/>
        </p:nvSpPr>
        <p:spPr>
          <a:xfrm rot="0">
            <a:off x="10418597" y="1488191"/>
            <a:ext cx="1927177" cy="1029268"/>
          </a:xfrm>
          <a:prstGeom prst="rect">
            <a:avLst/>
          </a:prstGeom>
        </p:spPr>
        <p:txBody>
          <a:bodyPr anchor="t" rtlCol="false" tIns="0" lIns="0" bIns="0" rIns="0">
            <a:spAutoFit/>
          </a:bodyPr>
          <a:lstStyle/>
          <a:p>
            <a:pPr algn="l" marL="0" indent="0" lvl="0">
              <a:lnSpc>
                <a:spcPts val="3901"/>
              </a:lnSpc>
              <a:spcBef>
                <a:spcPct val="0"/>
              </a:spcBef>
            </a:pPr>
            <a:r>
              <a:rPr lang="en-US" sz="4064" spc="-390">
                <a:solidFill>
                  <a:srgbClr val="303030"/>
                </a:solidFill>
                <a:latin typeface="Public Sans"/>
                <a:ea typeface="Public Sans"/>
                <a:cs typeface="Public Sans"/>
                <a:sym typeface="Public Sans"/>
              </a:rPr>
              <a:t>Light Cardio</a:t>
            </a:r>
          </a:p>
        </p:txBody>
      </p:sp>
      <p:sp>
        <p:nvSpPr>
          <p:cNvPr name="TextBox 19" id="19"/>
          <p:cNvSpPr txBox="true"/>
          <p:nvPr/>
        </p:nvSpPr>
        <p:spPr>
          <a:xfrm rot="0">
            <a:off x="12551930" y="1185577"/>
            <a:ext cx="4150568" cy="1678505"/>
          </a:xfrm>
          <a:prstGeom prst="rect">
            <a:avLst/>
          </a:prstGeom>
        </p:spPr>
        <p:txBody>
          <a:bodyPr anchor="t" rtlCol="false" tIns="0" lIns="0" bIns="0" rIns="0">
            <a:spAutoFit/>
          </a:bodyPr>
          <a:lstStyle/>
          <a:p>
            <a:pPr algn="l" marL="0" indent="0" lvl="0">
              <a:lnSpc>
                <a:spcPts val="2211"/>
              </a:lnSpc>
              <a:spcBef>
                <a:spcPct val="0"/>
              </a:spcBef>
            </a:pPr>
            <a:r>
              <a:rPr lang="en-US" b="true" sz="1356" strike="noStrike" u="none">
                <a:solidFill>
                  <a:srgbClr val="303030"/>
                </a:solidFill>
                <a:latin typeface="Agrandir Medium"/>
                <a:ea typeface="Agrandir Medium"/>
                <a:cs typeface="Agrandir Medium"/>
                <a:sym typeface="Agrandir Medium"/>
              </a:rPr>
              <a:t>Low-intensity cardiovascular exercise such as walking, light cycling, or swimming at a relaxed pace. Particularly relevant for users with high BMI or those new to exercise, where joint stress must be minimised.</a:t>
            </a:r>
          </a:p>
          <a:p>
            <a:pPr algn="l" marL="0" indent="0" lvl="0">
              <a:lnSpc>
                <a:spcPts val="2211"/>
              </a:lnSpc>
              <a:spcBef>
                <a:spcPct val="0"/>
              </a:spcBef>
            </a:pPr>
          </a:p>
        </p:txBody>
      </p:sp>
      <p:grpSp>
        <p:nvGrpSpPr>
          <p:cNvPr name="Group 20" id="20"/>
          <p:cNvGrpSpPr/>
          <p:nvPr/>
        </p:nvGrpSpPr>
        <p:grpSpPr>
          <a:xfrm rot="0">
            <a:off x="9793043" y="7279631"/>
            <a:ext cx="7466257" cy="1978669"/>
            <a:chOff x="0" y="0"/>
            <a:chExt cx="2864425" cy="759115"/>
          </a:xfrm>
        </p:grpSpPr>
        <p:sp>
          <p:nvSpPr>
            <p:cNvPr name="Freeform 21" id="21"/>
            <p:cNvSpPr/>
            <p:nvPr/>
          </p:nvSpPr>
          <p:spPr>
            <a:xfrm flipH="false" flipV="false" rot="0">
              <a:off x="0" y="0"/>
              <a:ext cx="2864425" cy="759115"/>
            </a:xfrm>
            <a:custGeom>
              <a:avLst/>
              <a:gdLst/>
              <a:ahLst/>
              <a:cxnLst/>
              <a:rect r="r" b="b" t="t" l="l"/>
              <a:pathLst>
                <a:path h="759115" w="2864425">
                  <a:moveTo>
                    <a:pt x="18665" y="0"/>
                  </a:moveTo>
                  <a:lnTo>
                    <a:pt x="2845761" y="0"/>
                  </a:lnTo>
                  <a:cubicBezTo>
                    <a:pt x="2850711" y="0"/>
                    <a:pt x="2855458" y="1966"/>
                    <a:pt x="2858958" y="5467"/>
                  </a:cubicBezTo>
                  <a:cubicBezTo>
                    <a:pt x="2862459" y="8967"/>
                    <a:pt x="2864425" y="13714"/>
                    <a:pt x="2864425" y="18665"/>
                  </a:cubicBezTo>
                  <a:lnTo>
                    <a:pt x="2864425" y="740451"/>
                  </a:lnTo>
                  <a:cubicBezTo>
                    <a:pt x="2864425" y="750759"/>
                    <a:pt x="2856069" y="759115"/>
                    <a:pt x="2845761" y="759115"/>
                  </a:cubicBezTo>
                  <a:lnTo>
                    <a:pt x="18665" y="759115"/>
                  </a:lnTo>
                  <a:cubicBezTo>
                    <a:pt x="13714" y="759115"/>
                    <a:pt x="8967" y="757149"/>
                    <a:pt x="5467" y="753649"/>
                  </a:cubicBezTo>
                  <a:cubicBezTo>
                    <a:pt x="1966" y="750148"/>
                    <a:pt x="0" y="745401"/>
                    <a:pt x="0" y="740451"/>
                  </a:cubicBezTo>
                  <a:lnTo>
                    <a:pt x="0" y="18665"/>
                  </a:lnTo>
                  <a:cubicBezTo>
                    <a:pt x="0" y="8356"/>
                    <a:pt x="8356" y="0"/>
                    <a:pt x="18665"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22" id="22"/>
            <p:cNvSpPr txBox="true"/>
            <p:nvPr/>
          </p:nvSpPr>
          <p:spPr>
            <a:xfrm>
              <a:off x="0" y="28575"/>
              <a:ext cx="2864425" cy="730540"/>
            </a:xfrm>
            <a:prstGeom prst="rect">
              <a:avLst/>
            </a:prstGeom>
          </p:spPr>
          <p:txBody>
            <a:bodyPr anchor="ctr" rtlCol="false" tIns="50800" lIns="50800" bIns="50800" rIns="50800"/>
            <a:lstStyle/>
            <a:p>
              <a:pPr algn="ctr" marL="0" indent="0" lvl="0">
                <a:lnSpc>
                  <a:spcPts val="1925"/>
                </a:lnSpc>
                <a:spcBef>
                  <a:spcPct val="0"/>
                </a:spcBef>
              </a:pPr>
            </a:p>
          </p:txBody>
        </p:sp>
      </p:grpSp>
      <p:sp>
        <p:nvSpPr>
          <p:cNvPr name="TextBox 23" id="23"/>
          <p:cNvSpPr txBox="true"/>
          <p:nvPr/>
        </p:nvSpPr>
        <p:spPr>
          <a:xfrm rot="0">
            <a:off x="10152382" y="8034597"/>
            <a:ext cx="2110412" cy="573512"/>
          </a:xfrm>
          <a:prstGeom prst="rect">
            <a:avLst/>
          </a:prstGeom>
        </p:spPr>
        <p:txBody>
          <a:bodyPr anchor="t" rtlCol="false" tIns="0" lIns="0" bIns="0" rIns="0">
            <a:spAutoFit/>
          </a:bodyPr>
          <a:lstStyle/>
          <a:p>
            <a:pPr algn="l" marL="0" indent="0" lvl="0">
              <a:lnSpc>
                <a:spcPts val="4292"/>
              </a:lnSpc>
              <a:spcBef>
                <a:spcPct val="0"/>
              </a:spcBef>
            </a:pPr>
            <a:r>
              <a:rPr lang="en-US" sz="4471" spc="-429">
                <a:solidFill>
                  <a:srgbClr val="303030"/>
                </a:solidFill>
                <a:latin typeface="Public Sans"/>
                <a:ea typeface="Public Sans"/>
                <a:cs typeface="Public Sans"/>
                <a:sym typeface="Public Sans"/>
              </a:rPr>
              <a:t>Beginner</a:t>
            </a:r>
          </a:p>
        </p:txBody>
      </p:sp>
      <p:sp>
        <p:nvSpPr>
          <p:cNvPr name="TextBox 24" id="24"/>
          <p:cNvSpPr txBox="true"/>
          <p:nvPr/>
        </p:nvSpPr>
        <p:spPr>
          <a:xfrm rot="0">
            <a:off x="12551930" y="7382088"/>
            <a:ext cx="4150568" cy="1678505"/>
          </a:xfrm>
          <a:prstGeom prst="rect">
            <a:avLst/>
          </a:prstGeom>
        </p:spPr>
        <p:txBody>
          <a:bodyPr anchor="t" rtlCol="false" tIns="0" lIns="0" bIns="0" rIns="0">
            <a:spAutoFit/>
          </a:bodyPr>
          <a:lstStyle/>
          <a:p>
            <a:pPr algn="l" marL="0" indent="0" lvl="0">
              <a:lnSpc>
                <a:spcPts val="2211"/>
              </a:lnSpc>
              <a:spcBef>
                <a:spcPct val="0"/>
              </a:spcBef>
            </a:pPr>
            <a:r>
              <a:rPr lang="en-US" b="true" sz="1356">
                <a:solidFill>
                  <a:srgbClr val="303030"/>
                </a:solidFill>
                <a:latin typeface="Agrandir Medium"/>
                <a:ea typeface="Agrandir Medium"/>
                <a:cs typeface="Agrandir Medium"/>
                <a:sym typeface="Agrandir Medium"/>
              </a:rPr>
              <a:t>G</a:t>
            </a:r>
            <a:r>
              <a:rPr lang="en-US" b="true" sz="1356" strike="noStrike" u="none">
                <a:solidFill>
                  <a:srgbClr val="303030"/>
                </a:solidFill>
                <a:latin typeface="Agrandir Medium"/>
                <a:ea typeface="Agrandir Medium"/>
                <a:cs typeface="Agrandir Medium"/>
                <a:sym typeface="Agrandir Medium"/>
              </a:rPr>
              <a:t>eneral beginner programs using bodyweight movements and foundational exercise patterns. Relevant for users with little or no exercise experience regardless of their specific goals. Does not correlate with muscle gain or weight loss goals directly.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1179269" y="8385101"/>
            <a:ext cx="6517111" cy="2916407"/>
          </a:xfrm>
          <a:custGeom>
            <a:avLst/>
            <a:gdLst/>
            <a:ahLst/>
            <a:cxnLst/>
            <a:rect r="r" b="b" t="t" l="l"/>
            <a:pathLst>
              <a:path h="2916407" w="6517111">
                <a:moveTo>
                  <a:pt x="0" y="0"/>
                </a:moveTo>
                <a:lnTo>
                  <a:pt x="6517111" y="0"/>
                </a:lnTo>
                <a:lnTo>
                  <a:pt x="6517111" y="2916407"/>
                </a:lnTo>
                <a:lnTo>
                  <a:pt x="0" y="29164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82643" y="-412187"/>
            <a:ext cx="6670249" cy="1592522"/>
          </a:xfrm>
          <a:custGeom>
            <a:avLst/>
            <a:gdLst/>
            <a:ahLst/>
            <a:cxnLst/>
            <a:rect r="r" b="b" t="t" l="l"/>
            <a:pathLst>
              <a:path h="1592522" w="6670249">
                <a:moveTo>
                  <a:pt x="0" y="0"/>
                </a:moveTo>
                <a:lnTo>
                  <a:pt x="6670249" y="0"/>
                </a:lnTo>
                <a:lnTo>
                  <a:pt x="6670249" y="1592522"/>
                </a:lnTo>
                <a:lnTo>
                  <a:pt x="0" y="1592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259300" y="1779686"/>
            <a:ext cx="2446977" cy="2939311"/>
          </a:xfrm>
          <a:custGeom>
            <a:avLst/>
            <a:gdLst/>
            <a:ahLst/>
            <a:cxnLst/>
            <a:rect r="r" b="b" t="t" l="l"/>
            <a:pathLst>
              <a:path h="2939311" w="2446977">
                <a:moveTo>
                  <a:pt x="0" y="0"/>
                </a:moveTo>
                <a:lnTo>
                  <a:pt x="2446977" y="0"/>
                </a:lnTo>
                <a:lnTo>
                  <a:pt x="2446977" y="2939311"/>
                </a:lnTo>
                <a:lnTo>
                  <a:pt x="0" y="29393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052402" y="589234"/>
            <a:ext cx="5416435" cy="827237"/>
          </a:xfrm>
          <a:custGeom>
            <a:avLst/>
            <a:gdLst/>
            <a:ahLst/>
            <a:cxnLst/>
            <a:rect r="r" b="b" t="t" l="l"/>
            <a:pathLst>
              <a:path h="827237" w="5416435">
                <a:moveTo>
                  <a:pt x="0" y="0"/>
                </a:moveTo>
                <a:lnTo>
                  <a:pt x="5416435" y="0"/>
                </a:lnTo>
                <a:lnTo>
                  <a:pt x="5416435" y="827238"/>
                </a:lnTo>
                <a:lnTo>
                  <a:pt x="0" y="8272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729948" y="9258300"/>
            <a:ext cx="6242672" cy="1771358"/>
          </a:xfrm>
          <a:custGeom>
            <a:avLst/>
            <a:gdLst/>
            <a:ahLst/>
            <a:cxnLst/>
            <a:rect r="r" b="b" t="t" l="l"/>
            <a:pathLst>
              <a:path h="1771358" w="6242672">
                <a:moveTo>
                  <a:pt x="0" y="0"/>
                </a:moveTo>
                <a:lnTo>
                  <a:pt x="6242672" y="0"/>
                </a:lnTo>
                <a:lnTo>
                  <a:pt x="6242672" y="1771358"/>
                </a:lnTo>
                <a:lnTo>
                  <a:pt x="0" y="17713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4375121" y="9107385"/>
            <a:ext cx="6397553" cy="2942875"/>
          </a:xfrm>
          <a:custGeom>
            <a:avLst/>
            <a:gdLst/>
            <a:ahLst/>
            <a:cxnLst/>
            <a:rect r="r" b="b" t="t" l="l"/>
            <a:pathLst>
              <a:path h="2942875" w="6397553">
                <a:moveTo>
                  <a:pt x="0" y="0"/>
                </a:moveTo>
                <a:lnTo>
                  <a:pt x="6397554" y="0"/>
                </a:lnTo>
                <a:lnTo>
                  <a:pt x="6397554" y="2942875"/>
                </a:lnTo>
                <a:lnTo>
                  <a:pt x="0" y="29428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10800000">
            <a:off x="13216435" y="-2666503"/>
            <a:ext cx="3866169" cy="3846838"/>
          </a:xfrm>
          <a:custGeom>
            <a:avLst/>
            <a:gdLst/>
            <a:ahLst/>
            <a:cxnLst/>
            <a:rect r="r" b="b" t="t" l="l"/>
            <a:pathLst>
              <a:path h="3846838" w="3866169">
                <a:moveTo>
                  <a:pt x="0" y="0"/>
                </a:moveTo>
                <a:lnTo>
                  <a:pt x="3866169" y="0"/>
                </a:lnTo>
                <a:lnTo>
                  <a:pt x="3866169" y="3846838"/>
                </a:lnTo>
                <a:lnTo>
                  <a:pt x="0" y="38468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graphicFrame>
        <p:nvGraphicFramePr>
          <p:cNvPr name="Object 10" id="10"/>
          <p:cNvGraphicFramePr/>
          <p:nvPr/>
        </p:nvGraphicFramePr>
        <p:xfrm>
          <a:off x="199082" y="2895777"/>
          <a:ext cx="9429750" cy="4271962"/>
        </p:xfrm>
        <a:graphic>
          <a:graphicData uri="http://schemas.openxmlformats.org/presentationml/2006/ole">
            <p:oleObj imgW="11315700" imgH="61595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11" id="11"/>
          <p:cNvSpPr txBox="true"/>
          <p:nvPr/>
        </p:nvSpPr>
        <p:spPr>
          <a:xfrm rot="0">
            <a:off x="7824250" y="4531676"/>
            <a:ext cx="6294738" cy="498475"/>
          </a:xfrm>
          <a:prstGeom prst="rect">
            <a:avLst/>
          </a:prstGeom>
        </p:spPr>
        <p:txBody>
          <a:bodyPr anchor="t" rtlCol="false" tIns="0" lIns="0" bIns="0" rIns="0">
            <a:spAutoFit/>
          </a:bodyPr>
          <a:lstStyle/>
          <a:p>
            <a:pPr algn="ctr">
              <a:lnSpc>
                <a:spcPts val="3500"/>
              </a:lnSpc>
              <a:spcBef>
                <a:spcPct val="0"/>
              </a:spcBef>
            </a:pPr>
          </a:p>
        </p:txBody>
      </p:sp>
      <p:grpSp>
        <p:nvGrpSpPr>
          <p:cNvPr name="Group 12" id="12"/>
          <p:cNvGrpSpPr/>
          <p:nvPr/>
        </p:nvGrpSpPr>
        <p:grpSpPr>
          <a:xfrm rot="0">
            <a:off x="10791392" y="4416819"/>
            <a:ext cx="5889471" cy="1226663"/>
            <a:chOff x="0" y="0"/>
            <a:chExt cx="2259492" cy="470609"/>
          </a:xfrm>
        </p:grpSpPr>
        <p:sp>
          <p:nvSpPr>
            <p:cNvPr name="Freeform 13" id="13"/>
            <p:cNvSpPr/>
            <p:nvPr/>
          </p:nvSpPr>
          <p:spPr>
            <a:xfrm flipH="false" flipV="false" rot="0">
              <a:off x="0" y="0"/>
              <a:ext cx="2259492" cy="470609"/>
            </a:xfrm>
            <a:custGeom>
              <a:avLst/>
              <a:gdLst/>
              <a:ahLst/>
              <a:cxnLst/>
              <a:rect r="r" b="b" t="t" l="l"/>
              <a:pathLst>
                <a:path h="470609" w="2259492">
                  <a:moveTo>
                    <a:pt x="23662" y="0"/>
                  </a:moveTo>
                  <a:lnTo>
                    <a:pt x="2235830" y="0"/>
                  </a:lnTo>
                  <a:cubicBezTo>
                    <a:pt x="2242106" y="0"/>
                    <a:pt x="2248124" y="2493"/>
                    <a:pt x="2252561" y="6930"/>
                  </a:cubicBezTo>
                  <a:cubicBezTo>
                    <a:pt x="2256999" y="11368"/>
                    <a:pt x="2259492" y="17386"/>
                    <a:pt x="2259492" y="23662"/>
                  </a:cubicBezTo>
                  <a:lnTo>
                    <a:pt x="2259492" y="446947"/>
                  </a:lnTo>
                  <a:cubicBezTo>
                    <a:pt x="2259492" y="460015"/>
                    <a:pt x="2248898" y="470609"/>
                    <a:pt x="2235830" y="470609"/>
                  </a:cubicBezTo>
                  <a:lnTo>
                    <a:pt x="23662" y="470609"/>
                  </a:lnTo>
                  <a:cubicBezTo>
                    <a:pt x="10594" y="470609"/>
                    <a:pt x="0" y="460015"/>
                    <a:pt x="0" y="446947"/>
                  </a:cubicBezTo>
                  <a:lnTo>
                    <a:pt x="0" y="23662"/>
                  </a:lnTo>
                  <a:cubicBezTo>
                    <a:pt x="0" y="10594"/>
                    <a:pt x="10594" y="0"/>
                    <a:pt x="23662"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4" id="14"/>
            <p:cNvSpPr txBox="true"/>
            <p:nvPr/>
          </p:nvSpPr>
          <p:spPr>
            <a:xfrm>
              <a:off x="0" y="28575"/>
              <a:ext cx="2259492" cy="442034"/>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15" id="15"/>
          <p:cNvGrpSpPr/>
          <p:nvPr/>
        </p:nvGrpSpPr>
        <p:grpSpPr>
          <a:xfrm rot="0">
            <a:off x="10791392" y="6018094"/>
            <a:ext cx="5889471" cy="1226663"/>
            <a:chOff x="0" y="0"/>
            <a:chExt cx="2259492" cy="470609"/>
          </a:xfrm>
        </p:grpSpPr>
        <p:sp>
          <p:nvSpPr>
            <p:cNvPr name="Freeform 16" id="16"/>
            <p:cNvSpPr/>
            <p:nvPr/>
          </p:nvSpPr>
          <p:spPr>
            <a:xfrm flipH="false" flipV="false" rot="0">
              <a:off x="0" y="0"/>
              <a:ext cx="2259492" cy="470609"/>
            </a:xfrm>
            <a:custGeom>
              <a:avLst/>
              <a:gdLst/>
              <a:ahLst/>
              <a:cxnLst/>
              <a:rect r="r" b="b" t="t" l="l"/>
              <a:pathLst>
                <a:path h="470609" w="2259492">
                  <a:moveTo>
                    <a:pt x="23662" y="0"/>
                  </a:moveTo>
                  <a:lnTo>
                    <a:pt x="2235830" y="0"/>
                  </a:lnTo>
                  <a:cubicBezTo>
                    <a:pt x="2242106" y="0"/>
                    <a:pt x="2248124" y="2493"/>
                    <a:pt x="2252561" y="6930"/>
                  </a:cubicBezTo>
                  <a:cubicBezTo>
                    <a:pt x="2256999" y="11368"/>
                    <a:pt x="2259492" y="17386"/>
                    <a:pt x="2259492" y="23662"/>
                  </a:cubicBezTo>
                  <a:lnTo>
                    <a:pt x="2259492" y="446947"/>
                  </a:lnTo>
                  <a:cubicBezTo>
                    <a:pt x="2259492" y="460015"/>
                    <a:pt x="2248898" y="470609"/>
                    <a:pt x="2235830" y="470609"/>
                  </a:cubicBezTo>
                  <a:lnTo>
                    <a:pt x="23662" y="470609"/>
                  </a:lnTo>
                  <a:cubicBezTo>
                    <a:pt x="10594" y="470609"/>
                    <a:pt x="0" y="460015"/>
                    <a:pt x="0" y="446947"/>
                  </a:cubicBezTo>
                  <a:lnTo>
                    <a:pt x="0" y="23662"/>
                  </a:lnTo>
                  <a:cubicBezTo>
                    <a:pt x="0" y="10594"/>
                    <a:pt x="10594" y="0"/>
                    <a:pt x="23662"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7" id="17"/>
            <p:cNvSpPr txBox="true"/>
            <p:nvPr/>
          </p:nvSpPr>
          <p:spPr>
            <a:xfrm>
              <a:off x="0" y="28575"/>
              <a:ext cx="2259492" cy="442034"/>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18" id="18"/>
          <p:cNvGrpSpPr/>
          <p:nvPr/>
        </p:nvGrpSpPr>
        <p:grpSpPr>
          <a:xfrm rot="0">
            <a:off x="10791392" y="7606707"/>
            <a:ext cx="5889471" cy="1226663"/>
            <a:chOff x="0" y="0"/>
            <a:chExt cx="2259492" cy="470609"/>
          </a:xfrm>
        </p:grpSpPr>
        <p:sp>
          <p:nvSpPr>
            <p:cNvPr name="Freeform 19" id="19"/>
            <p:cNvSpPr/>
            <p:nvPr/>
          </p:nvSpPr>
          <p:spPr>
            <a:xfrm flipH="false" flipV="false" rot="0">
              <a:off x="0" y="0"/>
              <a:ext cx="2259492" cy="470609"/>
            </a:xfrm>
            <a:custGeom>
              <a:avLst/>
              <a:gdLst/>
              <a:ahLst/>
              <a:cxnLst/>
              <a:rect r="r" b="b" t="t" l="l"/>
              <a:pathLst>
                <a:path h="470609" w="2259492">
                  <a:moveTo>
                    <a:pt x="23662" y="0"/>
                  </a:moveTo>
                  <a:lnTo>
                    <a:pt x="2235830" y="0"/>
                  </a:lnTo>
                  <a:cubicBezTo>
                    <a:pt x="2242106" y="0"/>
                    <a:pt x="2248124" y="2493"/>
                    <a:pt x="2252561" y="6930"/>
                  </a:cubicBezTo>
                  <a:cubicBezTo>
                    <a:pt x="2256999" y="11368"/>
                    <a:pt x="2259492" y="17386"/>
                    <a:pt x="2259492" y="23662"/>
                  </a:cubicBezTo>
                  <a:lnTo>
                    <a:pt x="2259492" y="446947"/>
                  </a:lnTo>
                  <a:cubicBezTo>
                    <a:pt x="2259492" y="460015"/>
                    <a:pt x="2248898" y="470609"/>
                    <a:pt x="2235830" y="470609"/>
                  </a:cubicBezTo>
                  <a:lnTo>
                    <a:pt x="23662" y="470609"/>
                  </a:lnTo>
                  <a:cubicBezTo>
                    <a:pt x="10594" y="470609"/>
                    <a:pt x="0" y="460015"/>
                    <a:pt x="0" y="446947"/>
                  </a:cubicBezTo>
                  <a:lnTo>
                    <a:pt x="0" y="23662"/>
                  </a:lnTo>
                  <a:cubicBezTo>
                    <a:pt x="0" y="10594"/>
                    <a:pt x="10594" y="0"/>
                    <a:pt x="23662"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20" id="20"/>
            <p:cNvSpPr txBox="true"/>
            <p:nvPr/>
          </p:nvSpPr>
          <p:spPr>
            <a:xfrm>
              <a:off x="0" y="28575"/>
              <a:ext cx="2259492" cy="442034"/>
            </a:xfrm>
            <a:prstGeom prst="rect">
              <a:avLst/>
            </a:prstGeom>
          </p:spPr>
          <p:txBody>
            <a:bodyPr anchor="ctr" rtlCol="false" tIns="50800" lIns="50800" bIns="50800" rIns="50800"/>
            <a:lstStyle/>
            <a:p>
              <a:pPr algn="ctr" marL="0" indent="0" lvl="0">
                <a:lnSpc>
                  <a:spcPts val="1925"/>
                </a:lnSpc>
                <a:spcBef>
                  <a:spcPct val="0"/>
                </a:spcBef>
              </a:pPr>
            </a:p>
          </p:txBody>
        </p:sp>
      </p:grpSp>
      <p:sp>
        <p:nvSpPr>
          <p:cNvPr name="Freeform 21" id="21"/>
          <p:cNvSpPr/>
          <p:nvPr/>
        </p:nvSpPr>
        <p:spPr>
          <a:xfrm flipH="false" flipV="false" rot="0">
            <a:off x="10631363" y="2895777"/>
            <a:ext cx="7065017" cy="1251251"/>
          </a:xfrm>
          <a:custGeom>
            <a:avLst/>
            <a:gdLst/>
            <a:ahLst/>
            <a:cxnLst/>
            <a:rect r="r" b="b" t="t" l="l"/>
            <a:pathLst>
              <a:path h="1251251" w="7065017">
                <a:moveTo>
                  <a:pt x="0" y="0"/>
                </a:moveTo>
                <a:lnTo>
                  <a:pt x="7065017" y="0"/>
                </a:lnTo>
                <a:lnTo>
                  <a:pt x="7065017" y="1251251"/>
                </a:lnTo>
                <a:lnTo>
                  <a:pt x="0" y="1251251"/>
                </a:lnTo>
                <a:lnTo>
                  <a:pt x="0" y="0"/>
                </a:lnTo>
                <a:close/>
              </a:path>
            </a:pathLst>
          </a:custGeom>
          <a:blipFill>
            <a:blip r:embed="rId19"/>
            <a:stretch>
              <a:fillRect l="0" t="-6583" r="-6146" b="-906"/>
            </a:stretch>
          </a:blipFill>
        </p:spPr>
      </p:sp>
      <p:sp>
        <p:nvSpPr>
          <p:cNvPr name="Freeform 22" id="22"/>
          <p:cNvSpPr/>
          <p:nvPr/>
        </p:nvSpPr>
        <p:spPr>
          <a:xfrm flipH="false" flipV="false" rot="0">
            <a:off x="10631363" y="4426344"/>
            <a:ext cx="7065017" cy="1393647"/>
          </a:xfrm>
          <a:custGeom>
            <a:avLst/>
            <a:gdLst/>
            <a:ahLst/>
            <a:cxnLst/>
            <a:rect r="r" b="b" t="t" l="l"/>
            <a:pathLst>
              <a:path h="1393647" w="7065017">
                <a:moveTo>
                  <a:pt x="0" y="0"/>
                </a:moveTo>
                <a:lnTo>
                  <a:pt x="7065017" y="0"/>
                </a:lnTo>
                <a:lnTo>
                  <a:pt x="7065017" y="1393647"/>
                </a:lnTo>
                <a:lnTo>
                  <a:pt x="0" y="1393647"/>
                </a:lnTo>
                <a:lnTo>
                  <a:pt x="0" y="0"/>
                </a:lnTo>
                <a:close/>
              </a:path>
            </a:pathLst>
          </a:custGeom>
          <a:blipFill>
            <a:blip r:embed="rId20"/>
            <a:stretch>
              <a:fillRect l="0" t="0" r="0" b="0"/>
            </a:stretch>
          </a:blipFill>
        </p:spPr>
      </p:sp>
      <p:sp>
        <p:nvSpPr>
          <p:cNvPr name="Freeform 23" id="23"/>
          <p:cNvSpPr/>
          <p:nvPr/>
        </p:nvSpPr>
        <p:spPr>
          <a:xfrm flipH="false" flipV="false" rot="0">
            <a:off x="10600340" y="6031617"/>
            <a:ext cx="7076990" cy="1385815"/>
          </a:xfrm>
          <a:custGeom>
            <a:avLst/>
            <a:gdLst/>
            <a:ahLst/>
            <a:cxnLst/>
            <a:rect r="r" b="b" t="t" l="l"/>
            <a:pathLst>
              <a:path h="1385815" w="7076990">
                <a:moveTo>
                  <a:pt x="0" y="0"/>
                </a:moveTo>
                <a:lnTo>
                  <a:pt x="7076990" y="0"/>
                </a:lnTo>
                <a:lnTo>
                  <a:pt x="7076990" y="1385814"/>
                </a:lnTo>
                <a:lnTo>
                  <a:pt x="0" y="1385814"/>
                </a:lnTo>
                <a:lnTo>
                  <a:pt x="0" y="0"/>
                </a:lnTo>
                <a:close/>
              </a:path>
            </a:pathLst>
          </a:custGeom>
          <a:blipFill>
            <a:blip r:embed="rId21"/>
            <a:stretch>
              <a:fillRect l="0" t="-26" r="-5239" b="-26"/>
            </a:stretch>
          </a:blipFill>
        </p:spPr>
      </p:sp>
      <p:sp>
        <p:nvSpPr>
          <p:cNvPr name="Freeform 24" id="24"/>
          <p:cNvSpPr/>
          <p:nvPr/>
        </p:nvSpPr>
        <p:spPr>
          <a:xfrm flipH="false" flipV="false" rot="0">
            <a:off x="10619390" y="7608247"/>
            <a:ext cx="7076990" cy="1396271"/>
          </a:xfrm>
          <a:custGeom>
            <a:avLst/>
            <a:gdLst/>
            <a:ahLst/>
            <a:cxnLst/>
            <a:rect r="r" b="b" t="t" l="l"/>
            <a:pathLst>
              <a:path h="1396271" w="7076990">
                <a:moveTo>
                  <a:pt x="0" y="0"/>
                </a:moveTo>
                <a:lnTo>
                  <a:pt x="7076990" y="0"/>
                </a:lnTo>
                <a:lnTo>
                  <a:pt x="7076990" y="1396271"/>
                </a:lnTo>
                <a:lnTo>
                  <a:pt x="0" y="1396271"/>
                </a:lnTo>
                <a:lnTo>
                  <a:pt x="0" y="0"/>
                </a:lnTo>
                <a:close/>
              </a:path>
            </a:pathLst>
          </a:custGeom>
          <a:blipFill>
            <a:blip r:embed="rId22"/>
            <a:stretch>
              <a:fillRect l="0" t="0" r="0" b="0"/>
            </a:stretch>
          </a:blipFill>
        </p:spPr>
      </p:sp>
      <p:sp>
        <p:nvSpPr>
          <p:cNvPr name="TextBox 25" id="25"/>
          <p:cNvSpPr txBox="true"/>
          <p:nvPr/>
        </p:nvSpPr>
        <p:spPr>
          <a:xfrm rot="0">
            <a:off x="-161997" y="1171575"/>
            <a:ext cx="18283706" cy="1765954"/>
          </a:xfrm>
          <a:prstGeom prst="rect">
            <a:avLst/>
          </a:prstGeom>
        </p:spPr>
        <p:txBody>
          <a:bodyPr anchor="t" rtlCol="false" tIns="0" lIns="0" bIns="0" rIns="0">
            <a:spAutoFit/>
          </a:bodyPr>
          <a:lstStyle/>
          <a:p>
            <a:pPr algn="ctr">
              <a:lnSpc>
                <a:spcPts val="6720"/>
              </a:lnSpc>
            </a:pPr>
            <a:r>
              <a:rPr lang="en-US" sz="7000">
                <a:solidFill>
                  <a:srgbClr val="FFFFFF"/>
                </a:solidFill>
                <a:latin typeface="TT Milks Casual 700 One"/>
                <a:ea typeface="TT Milks Casual 700 One"/>
                <a:cs typeface="TT Milks Casual 700 One"/>
                <a:sym typeface="TT Milks Casual 700 One"/>
              </a:rPr>
              <a:t>How Inputs Shape Recommendations</a:t>
            </a:r>
          </a:p>
          <a:p>
            <a:pPr algn="ctr" marL="0" indent="0" lvl="0">
              <a:lnSpc>
                <a:spcPts val="67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grpSp>
        <p:nvGrpSpPr>
          <p:cNvPr name="Group 3" id="3"/>
          <p:cNvGrpSpPr/>
          <p:nvPr/>
        </p:nvGrpSpPr>
        <p:grpSpPr>
          <a:xfrm rot="0">
            <a:off x="1028700" y="1534177"/>
            <a:ext cx="4747992" cy="2582401"/>
            <a:chOff x="0" y="0"/>
            <a:chExt cx="1395706" cy="759115"/>
          </a:xfrm>
        </p:grpSpPr>
        <p:sp>
          <p:nvSpPr>
            <p:cNvPr name="Freeform 4" id="4"/>
            <p:cNvSpPr/>
            <p:nvPr/>
          </p:nvSpPr>
          <p:spPr>
            <a:xfrm flipH="false" flipV="false" rot="0">
              <a:off x="0" y="0"/>
              <a:ext cx="1395706" cy="759115"/>
            </a:xfrm>
            <a:custGeom>
              <a:avLst/>
              <a:gdLst/>
              <a:ahLst/>
              <a:cxnLst/>
              <a:rect r="r" b="b" t="t" l="l"/>
              <a:pathLst>
                <a:path h="759115" w="1395706">
                  <a:moveTo>
                    <a:pt x="29350" y="0"/>
                  </a:moveTo>
                  <a:lnTo>
                    <a:pt x="1366356" y="0"/>
                  </a:lnTo>
                  <a:cubicBezTo>
                    <a:pt x="1382566" y="0"/>
                    <a:pt x="1395706" y="13141"/>
                    <a:pt x="1395706" y="29350"/>
                  </a:cubicBezTo>
                  <a:lnTo>
                    <a:pt x="1395706" y="729765"/>
                  </a:lnTo>
                  <a:cubicBezTo>
                    <a:pt x="1395706" y="745975"/>
                    <a:pt x="1382566" y="759115"/>
                    <a:pt x="1366356" y="759115"/>
                  </a:cubicBezTo>
                  <a:lnTo>
                    <a:pt x="29350" y="759115"/>
                  </a:lnTo>
                  <a:cubicBezTo>
                    <a:pt x="13141" y="759115"/>
                    <a:pt x="0" y="745975"/>
                    <a:pt x="0" y="729765"/>
                  </a:cubicBezTo>
                  <a:lnTo>
                    <a:pt x="0" y="29350"/>
                  </a:lnTo>
                  <a:cubicBezTo>
                    <a:pt x="0" y="13141"/>
                    <a:pt x="13141" y="0"/>
                    <a:pt x="29350"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5" id="5"/>
            <p:cNvSpPr txBox="true"/>
            <p:nvPr/>
          </p:nvSpPr>
          <p:spPr>
            <a:xfrm>
              <a:off x="0" y="28575"/>
              <a:ext cx="1395706" cy="730540"/>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6" id="6"/>
          <p:cNvGrpSpPr/>
          <p:nvPr/>
        </p:nvGrpSpPr>
        <p:grpSpPr>
          <a:xfrm rot="0">
            <a:off x="12463795" y="6198378"/>
            <a:ext cx="4747992" cy="2582401"/>
            <a:chOff x="0" y="0"/>
            <a:chExt cx="1395706" cy="759115"/>
          </a:xfrm>
        </p:grpSpPr>
        <p:sp>
          <p:nvSpPr>
            <p:cNvPr name="Freeform 7" id="7"/>
            <p:cNvSpPr/>
            <p:nvPr/>
          </p:nvSpPr>
          <p:spPr>
            <a:xfrm flipH="false" flipV="false" rot="0">
              <a:off x="0" y="0"/>
              <a:ext cx="1395706" cy="759115"/>
            </a:xfrm>
            <a:custGeom>
              <a:avLst/>
              <a:gdLst/>
              <a:ahLst/>
              <a:cxnLst/>
              <a:rect r="r" b="b" t="t" l="l"/>
              <a:pathLst>
                <a:path h="759115" w="1395706">
                  <a:moveTo>
                    <a:pt x="29350" y="0"/>
                  </a:moveTo>
                  <a:lnTo>
                    <a:pt x="1366356" y="0"/>
                  </a:lnTo>
                  <a:cubicBezTo>
                    <a:pt x="1382566" y="0"/>
                    <a:pt x="1395706" y="13141"/>
                    <a:pt x="1395706" y="29350"/>
                  </a:cubicBezTo>
                  <a:lnTo>
                    <a:pt x="1395706" y="729765"/>
                  </a:lnTo>
                  <a:cubicBezTo>
                    <a:pt x="1395706" y="745975"/>
                    <a:pt x="1382566" y="759115"/>
                    <a:pt x="1366356" y="759115"/>
                  </a:cubicBezTo>
                  <a:lnTo>
                    <a:pt x="29350" y="759115"/>
                  </a:lnTo>
                  <a:cubicBezTo>
                    <a:pt x="13141" y="759115"/>
                    <a:pt x="0" y="745975"/>
                    <a:pt x="0" y="729765"/>
                  </a:cubicBezTo>
                  <a:lnTo>
                    <a:pt x="0" y="29350"/>
                  </a:lnTo>
                  <a:cubicBezTo>
                    <a:pt x="0" y="13141"/>
                    <a:pt x="13141" y="0"/>
                    <a:pt x="29350"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8" id="8"/>
            <p:cNvSpPr txBox="true"/>
            <p:nvPr/>
          </p:nvSpPr>
          <p:spPr>
            <a:xfrm>
              <a:off x="0" y="28575"/>
              <a:ext cx="1395706" cy="730540"/>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9" id="9"/>
          <p:cNvGrpSpPr/>
          <p:nvPr/>
        </p:nvGrpSpPr>
        <p:grpSpPr>
          <a:xfrm rot="0">
            <a:off x="1019064" y="6198378"/>
            <a:ext cx="4747992" cy="2582401"/>
            <a:chOff x="0" y="0"/>
            <a:chExt cx="1395706" cy="759115"/>
          </a:xfrm>
        </p:grpSpPr>
        <p:sp>
          <p:nvSpPr>
            <p:cNvPr name="Freeform 10" id="10"/>
            <p:cNvSpPr/>
            <p:nvPr/>
          </p:nvSpPr>
          <p:spPr>
            <a:xfrm flipH="false" flipV="false" rot="0">
              <a:off x="0" y="0"/>
              <a:ext cx="1395706" cy="759115"/>
            </a:xfrm>
            <a:custGeom>
              <a:avLst/>
              <a:gdLst/>
              <a:ahLst/>
              <a:cxnLst/>
              <a:rect r="r" b="b" t="t" l="l"/>
              <a:pathLst>
                <a:path h="759115" w="1395706">
                  <a:moveTo>
                    <a:pt x="29350" y="0"/>
                  </a:moveTo>
                  <a:lnTo>
                    <a:pt x="1366356" y="0"/>
                  </a:lnTo>
                  <a:cubicBezTo>
                    <a:pt x="1382566" y="0"/>
                    <a:pt x="1395706" y="13141"/>
                    <a:pt x="1395706" y="29350"/>
                  </a:cubicBezTo>
                  <a:lnTo>
                    <a:pt x="1395706" y="729765"/>
                  </a:lnTo>
                  <a:cubicBezTo>
                    <a:pt x="1395706" y="745975"/>
                    <a:pt x="1382566" y="759115"/>
                    <a:pt x="1366356" y="759115"/>
                  </a:cubicBezTo>
                  <a:lnTo>
                    <a:pt x="29350" y="759115"/>
                  </a:lnTo>
                  <a:cubicBezTo>
                    <a:pt x="13141" y="759115"/>
                    <a:pt x="0" y="745975"/>
                    <a:pt x="0" y="729765"/>
                  </a:cubicBezTo>
                  <a:lnTo>
                    <a:pt x="0" y="29350"/>
                  </a:lnTo>
                  <a:cubicBezTo>
                    <a:pt x="0" y="13141"/>
                    <a:pt x="13141" y="0"/>
                    <a:pt x="29350"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1" id="11"/>
            <p:cNvSpPr txBox="true"/>
            <p:nvPr/>
          </p:nvSpPr>
          <p:spPr>
            <a:xfrm>
              <a:off x="0" y="28575"/>
              <a:ext cx="1395706" cy="730540"/>
            </a:xfrm>
            <a:prstGeom prst="rect">
              <a:avLst/>
            </a:prstGeom>
          </p:spPr>
          <p:txBody>
            <a:bodyPr anchor="ctr" rtlCol="false" tIns="50800" lIns="50800" bIns="50800" rIns="50800"/>
            <a:lstStyle/>
            <a:p>
              <a:pPr algn="ctr" marL="0" indent="0" lvl="0">
                <a:lnSpc>
                  <a:spcPts val="1925"/>
                </a:lnSpc>
                <a:spcBef>
                  <a:spcPct val="0"/>
                </a:spcBef>
              </a:pPr>
            </a:p>
          </p:txBody>
        </p:sp>
      </p:grpSp>
      <p:grpSp>
        <p:nvGrpSpPr>
          <p:cNvPr name="Group 12" id="12"/>
          <p:cNvGrpSpPr/>
          <p:nvPr/>
        </p:nvGrpSpPr>
        <p:grpSpPr>
          <a:xfrm rot="0">
            <a:off x="12463795" y="1534177"/>
            <a:ext cx="4747992" cy="2582401"/>
            <a:chOff x="0" y="0"/>
            <a:chExt cx="1395706" cy="759115"/>
          </a:xfrm>
        </p:grpSpPr>
        <p:sp>
          <p:nvSpPr>
            <p:cNvPr name="Freeform 13" id="13"/>
            <p:cNvSpPr/>
            <p:nvPr/>
          </p:nvSpPr>
          <p:spPr>
            <a:xfrm flipH="false" flipV="false" rot="0">
              <a:off x="0" y="0"/>
              <a:ext cx="1395706" cy="759115"/>
            </a:xfrm>
            <a:custGeom>
              <a:avLst/>
              <a:gdLst/>
              <a:ahLst/>
              <a:cxnLst/>
              <a:rect r="r" b="b" t="t" l="l"/>
              <a:pathLst>
                <a:path h="759115" w="1395706">
                  <a:moveTo>
                    <a:pt x="29350" y="0"/>
                  </a:moveTo>
                  <a:lnTo>
                    <a:pt x="1366356" y="0"/>
                  </a:lnTo>
                  <a:cubicBezTo>
                    <a:pt x="1382566" y="0"/>
                    <a:pt x="1395706" y="13141"/>
                    <a:pt x="1395706" y="29350"/>
                  </a:cubicBezTo>
                  <a:lnTo>
                    <a:pt x="1395706" y="729765"/>
                  </a:lnTo>
                  <a:cubicBezTo>
                    <a:pt x="1395706" y="745975"/>
                    <a:pt x="1382566" y="759115"/>
                    <a:pt x="1366356" y="759115"/>
                  </a:cubicBezTo>
                  <a:lnTo>
                    <a:pt x="29350" y="759115"/>
                  </a:lnTo>
                  <a:cubicBezTo>
                    <a:pt x="13141" y="759115"/>
                    <a:pt x="0" y="745975"/>
                    <a:pt x="0" y="729765"/>
                  </a:cubicBezTo>
                  <a:lnTo>
                    <a:pt x="0" y="29350"/>
                  </a:lnTo>
                  <a:cubicBezTo>
                    <a:pt x="0" y="13141"/>
                    <a:pt x="13141" y="0"/>
                    <a:pt x="29350" y="0"/>
                  </a:cubicBez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14" id="14"/>
            <p:cNvSpPr txBox="true"/>
            <p:nvPr/>
          </p:nvSpPr>
          <p:spPr>
            <a:xfrm>
              <a:off x="0" y="28575"/>
              <a:ext cx="1395706" cy="730540"/>
            </a:xfrm>
            <a:prstGeom prst="rect">
              <a:avLst/>
            </a:prstGeom>
          </p:spPr>
          <p:txBody>
            <a:bodyPr anchor="ctr" rtlCol="false" tIns="50800" lIns="50800" bIns="50800" rIns="50800"/>
            <a:lstStyle/>
            <a:p>
              <a:pPr algn="ctr" marL="0" indent="0" lvl="0">
                <a:lnSpc>
                  <a:spcPts val="1925"/>
                </a:lnSpc>
                <a:spcBef>
                  <a:spcPct val="0"/>
                </a:spcBef>
              </a:pPr>
            </a:p>
          </p:txBody>
        </p:sp>
      </p:grpSp>
      <p:sp>
        <p:nvSpPr>
          <p:cNvPr name="Freeform 15" id="15"/>
          <p:cNvSpPr/>
          <p:nvPr/>
        </p:nvSpPr>
        <p:spPr>
          <a:xfrm flipH="false" flipV="false" rot="0">
            <a:off x="8401656" y="1888820"/>
            <a:ext cx="1484689" cy="1947133"/>
          </a:xfrm>
          <a:custGeom>
            <a:avLst/>
            <a:gdLst/>
            <a:ahLst/>
            <a:cxnLst/>
            <a:rect r="r" b="b" t="t" l="l"/>
            <a:pathLst>
              <a:path h="1947133" w="1484689">
                <a:moveTo>
                  <a:pt x="0" y="0"/>
                </a:moveTo>
                <a:lnTo>
                  <a:pt x="1484688" y="0"/>
                </a:lnTo>
                <a:lnTo>
                  <a:pt x="1484688" y="1947133"/>
                </a:lnTo>
                <a:lnTo>
                  <a:pt x="0" y="19471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7900054">
            <a:off x="6268945" y="3141737"/>
            <a:ext cx="908400" cy="407954"/>
          </a:xfrm>
          <a:custGeom>
            <a:avLst/>
            <a:gdLst/>
            <a:ahLst/>
            <a:cxnLst/>
            <a:rect r="r" b="b" t="t" l="l"/>
            <a:pathLst>
              <a:path h="407954" w="908400">
                <a:moveTo>
                  <a:pt x="0" y="0"/>
                </a:moveTo>
                <a:lnTo>
                  <a:pt x="908399" y="0"/>
                </a:lnTo>
                <a:lnTo>
                  <a:pt x="908399" y="407954"/>
                </a:lnTo>
                <a:lnTo>
                  <a:pt x="0" y="4079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2700000">
            <a:off x="11052070" y="3130588"/>
            <a:ext cx="908400" cy="407954"/>
          </a:xfrm>
          <a:custGeom>
            <a:avLst/>
            <a:gdLst/>
            <a:ahLst/>
            <a:cxnLst/>
            <a:rect r="r" b="b" t="t" l="l"/>
            <a:pathLst>
              <a:path h="407954" w="908400">
                <a:moveTo>
                  <a:pt x="0" y="0"/>
                </a:moveTo>
                <a:lnTo>
                  <a:pt x="908400" y="0"/>
                </a:lnTo>
                <a:lnTo>
                  <a:pt x="908400" y="407954"/>
                </a:lnTo>
                <a:lnTo>
                  <a:pt x="0" y="4079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3209977">
            <a:off x="11069072" y="6814517"/>
            <a:ext cx="874397" cy="392684"/>
          </a:xfrm>
          <a:custGeom>
            <a:avLst/>
            <a:gdLst/>
            <a:ahLst/>
            <a:cxnLst/>
            <a:rect r="r" b="b" t="t" l="l"/>
            <a:pathLst>
              <a:path h="392684" w="874397">
                <a:moveTo>
                  <a:pt x="0" y="0"/>
                </a:moveTo>
                <a:lnTo>
                  <a:pt x="874396" y="0"/>
                </a:lnTo>
                <a:lnTo>
                  <a:pt x="874396" y="392684"/>
                </a:lnTo>
                <a:lnTo>
                  <a:pt x="0" y="3926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7866361">
            <a:off x="6276311" y="6828538"/>
            <a:ext cx="874397" cy="392684"/>
          </a:xfrm>
          <a:custGeom>
            <a:avLst/>
            <a:gdLst/>
            <a:ahLst/>
            <a:cxnLst/>
            <a:rect r="r" b="b" t="t" l="l"/>
            <a:pathLst>
              <a:path h="392684" w="874397">
                <a:moveTo>
                  <a:pt x="0" y="0"/>
                </a:moveTo>
                <a:lnTo>
                  <a:pt x="874396" y="0"/>
                </a:lnTo>
                <a:lnTo>
                  <a:pt x="874396" y="392684"/>
                </a:lnTo>
                <a:lnTo>
                  <a:pt x="0" y="3926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7453689" y="6761990"/>
            <a:ext cx="3380621" cy="516313"/>
          </a:xfrm>
          <a:custGeom>
            <a:avLst/>
            <a:gdLst/>
            <a:ahLst/>
            <a:cxnLst/>
            <a:rect r="r" b="b" t="t" l="l"/>
            <a:pathLst>
              <a:path h="516313" w="3380621">
                <a:moveTo>
                  <a:pt x="0" y="0"/>
                </a:moveTo>
                <a:lnTo>
                  <a:pt x="3380622" y="0"/>
                </a:lnTo>
                <a:lnTo>
                  <a:pt x="3380622" y="516313"/>
                </a:lnTo>
                <a:lnTo>
                  <a:pt x="0" y="5163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094904" y="2413010"/>
            <a:ext cx="410380" cy="656131"/>
          </a:xfrm>
          <a:custGeom>
            <a:avLst/>
            <a:gdLst/>
            <a:ahLst/>
            <a:cxnLst/>
            <a:rect r="r" b="b" t="t" l="l"/>
            <a:pathLst>
              <a:path h="656131" w="410380">
                <a:moveTo>
                  <a:pt x="0" y="0"/>
                </a:moveTo>
                <a:lnTo>
                  <a:pt x="410381" y="0"/>
                </a:lnTo>
                <a:lnTo>
                  <a:pt x="410381" y="656132"/>
                </a:lnTo>
                <a:lnTo>
                  <a:pt x="0" y="656132"/>
                </a:lnTo>
                <a:lnTo>
                  <a:pt x="0" y="0"/>
                </a:lnTo>
                <a:close/>
              </a:path>
            </a:pathLst>
          </a:custGeom>
          <a:blipFill>
            <a:blip r:embed="rId9"/>
            <a:stretch>
              <a:fillRect l="0" t="0" r="0" b="0"/>
            </a:stretch>
          </a:blipFill>
        </p:spPr>
      </p:sp>
      <p:sp>
        <p:nvSpPr>
          <p:cNvPr name="TextBox 22" id="22"/>
          <p:cNvSpPr txBox="true"/>
          <p:nvPr/>
        </p:nvSpPr>
        <p:spPr>
          <a:xfrm rot="0">
            <a:off x="6153922" y="4735513"/>
            <a:ext cx="5980156" cy="939800"/>
          </a:xfrm>
          <a:prstGeom prst="rect">
            <a:avLst/>
          </a:prstGeom>
        </p:spPr>
        <p:txBody>
          <a:bodyPr anchor="t" rtlCol="false" tIns="0" lIns="0" bIns="0" rIns="0">
            <a:spAutoFit/>
          </a:bodyPr>
          <a:lstStyle/>
          <a:p>
            <a:pPr algn="ctr">
              <a:lnSpc>
                <a:spcPts val="6999"/>
              </a:lnSpc>
            </a:pPr>
            <a:r>
              <a:rPr lang="en-US" sz="6999" spc="-167">
                <a:solidFill>
                  <a:srgbClr val="FFFFFF"/>
                </a:solidFill>
                <a:latin typeface="TT Milks Casual 700 One"/>
                <a:ea typeface="TT Milks Casual 700 One"/>
                <a:cs typeface="TT Milks Casual 700 One"/>
                <a:sym typeface="TT Milks Casual 700 One"/>
              </a:rPr>
              <a:t>LIMITATIONS</a:t>
            </a:r>
          </a:p>
        </p:txBody>
      </p:sp>
      <p:sp>
        <p:nvSpPr>
          <p:cNvPr name="TextBox 23" id="23"/>
          <p:cNvSpPr txBox="true"/>
          <p:nvPr/>
        </p:nvSpPr>
        <p:spPr>
          <a:xfrm rot="0">
            <a:off x="1309730" y="1817506"/>
            <a:ext cx="4185932" cy="595505"/>
          </a:xfrm>
          <a:prstGeom prst="rect">
            <a:avLst/>
          </a:prstGeom>
        </p:spPr>
        <p:txBody>
          <a:bodyPr anchor="t" rtlCol="false" tIns="0" lIns="0" bIns="0" rIns="0">
            <a:spAutoFit/>
          </a:bodyPr>
          <a:lstStyle/>
          <a:p>
            <a:pPr algn="ctr" marL="0" indent="0" lvl="0">
              <a:lnSpc>
                <a:spcPts val="4400"/>
              </a:lnSpc>
              <a:spcBef>
                <a:spcPct val="0"/>
              </a:spcBef>
            </a:pPr>
            <a:r>
              <a:rPr lang="en-US" b="true" sz="2699">
                <a:solidFill>
                  <a:srgbClr val="303030"/>
                </a:solidFill>
                <a:latin typeface="Agrandir Medium"/>
                <a:ea typeface="Agrandir Medium"/>
                <a:cs typeface="Agrandir Medium"/>
                <a:sym typeface="Agrandir Medium"/>
              </a:rPr>
              <a:t>ASSIGNING WEIGHTS</a:t>
            </a:r>
          </a:p>
        </p:txBody>
      </p:sp>
      <p:sp>
        <p:nvSpPr>
          <p:cNvPr name="TextBox 24" id="24"/>
          <p:cNvSpPr txBox="true"/>
          <p:nvPr/>
        </p:nvSpPr>
        <p:spPr>
          <a:xfrm rot="0">
            <a:off x="12745860" y="6416555"/>
            <a:ext cx="4185932" cy="595503"/>
          </a:xfrm>
          <a:prstGeom prst="rect">
            <a:avLst/>
          </a:prstGeom>
        </p:spPr>
        <p:txBody>
          <a:bodyPr anchor="t" rtlCol="false" tIns="0" lIns="0" bIns="0" rIns="0">
            <a:spAutoFit/>
          </a:bodyPr>
          <a:lstStyle/>
          <a:p>
            <a:pPr algn="ctr" marL="0" indent="0" lvl="0">
              <a:lnSpc>
                <a:spcPts val="4401"/>
              </a:lnSpc>
              <a:spcBef>
                <a:spcPct val="0"/>
              </a:spcBef>
            </a:pPr>
            <a:r>
              <a:rPr lang="en-US" b="true" sz="2700">
                <a:solidFill>
                  <a:srgbClr val="303030"/>
                </a:solidFill>
                <a:latin typeface="Agrandir Medium"/>
                <a:ea typeface="Agrandir Medium"/>
                <a:cs typeface="Agrandir Medium"/>
                <a:sym typeface="Agrandir Medium"/>
              </a:rPr>
              <a:t>INTERFACE</a:t>
            </a:r>
          </a:p>
        </p:txBody>
      </p:sp>
      <p:sp>
        <p:nvSpPr>
          <p:cNvPr name="TextBox 25" id="25"/>
          <p:cNvSpPr txBox="true"/>
          <p:nvPr/>
        </p:nvSpPr>
        <p:spPr>
          <a:xfrm rot="0">
            <a:off x="1300094" y="6311852"/>
            <a:ext cx="4185932" cy="595503"/>
          </a:xfrm>
          <a:prstGeom prst="rect">
            <a:avLst/>
          </a:prstGeom>
        </p:spPr>
        <p:txBody>
          <a:bodyPr anchor="t" rtlCol="false" tIns="0" lIns="0" bIns="0" rIns="0">
            <a:spAutoFit/>
          </a:bodyPr>
          <a:lstStyle/>
          <a:p>
            <a:pPr algn="ctr" marL="0" indent="0" lvl="0">
              <a:lnSpc>
                <a:spcPts val="4401"/>
              </a:lnSpc>
              <a:spcBef>
                <a:spcPct val="0"/>
              </a:spcBef>
            </a:pPr>
            <a:r>
              <a:rPr lang="en-US" b="true" sz="2700">
                <a:solidFill>
                  <a:srgbClr val="303030"/>
                </a:solidFill>
                <a:latin typeface="Agrandir Medium"/>
                <a:ea typeface="Agrandir Medium"/>
                <a:cs typeface="Agrandir Medium"/>
                <a:sym typeface="Agrandir Medium"/>
              </a:rPr>
              <a:t>EVALUATION METHOD</a:t>
            </a:r>
          </a:p>
        </p:txBody>
      </p:sp>
      <p:sp>
        <p:nvSpPr>
          <p:cNvPr name="TextBox 26" id="26"/>
          <p:cNvSpPr txBox="true"/>
          <p:nvPr/>
        </p:nvSpPr>
        <p:spPr>
          <a:xfrm rot="0">
            <a:off x="12744824" y="1613354"/>
            <a:ext cx="4185932" cy="595503"/>
          </a:xfrm>
          <a:prstGeom prst="rect">
            <a:avLst/>
          </a:prstGeom>
        </p:spPr>
        <p:txBody>
          <a:bodyPr anchor="t" rtlCol="false" tIns="0" lIns="0" bIns="0" rIns="0">
            <a:spAutoFit/>
          </a:bodyPr>
          <a:lstStyle/>
          <a:p>
            <a:pPr algn="ctr" marL="0" indent="0" lvl="0">
              <a:lnSpc>
                <a:spcPts val="4401"/>
              </a:lnSpc>
              <a:spcBef>
                <a:spcPct val="0"/>
              </a:spcBef>
            </a:pPr>
            <a:r>
              <a:rPr lang="en-US" b="true" sz="2700">
                <a:solidFill>
                  <a:srgbClr val="303030"/>
                </a:solidFill>
                <a:latin typeface="Agrandir Medium"/>
                <a:ea typeface="Agrandir Medium"/>
                <a:cs typeface="Agrandir Medium"/>
                <a:sym typeface="Agrandir Medium"/>
              </a:rPr>
              <a:t>HEALTH PROBLEMS</a:t>
            </a:r>
          </a:p>
        </p:txBody>
      </p:sp>
      <p:sp>
        <p:nvSpPr>
          <p:cNvPr name="TextBox 27" id="27"/>
          <p:cNvSpPr txBox="true"/>
          <p:nvPr/>
        </p:nvSpPr>
        <p:spPr>
          <a:xfrm rot="0">
            <a:off x="1310765" y="2527959"/>
            <a:ext cx="4185932" cy="852804"/>
          </a:xfrm>
          <a:prstGeom prst="rect">
            <a:avLst/>
          </a:prstGeom>
        </p:spPr>
        <p:txBody>
          <a:bodyPr anchor="t" rtlCol="false" tIns="0" lIns="0" bIns="0" rIns="0">
            <a:spAutoFit/>
          </a:bodyPr>
          <a:lstStyle/>
          <a:p>
            <a:pPr algn="ctr" marL="0" indent="0" lvl="0">
              <a:lnSpc>
                <a:spcPts val="3260"/>
              </a:lnSpc>
              <a:spcBef>
                <a:spcPct val="0"/>
              </a:spcBef>
            </a:pPr>
            <a:r>
              <a:rPr lang="en-US" b="true" sz="2000">
                <a:solidFill>
                  <a:srgbClr val="303030"/>
                </a:solidFill>
                <a:latin typeface="Agrandir Medium"/>
                <a:ea typeface="Agrandir Medium"/>
                <a:cs typeface="Agrandir Medium"/>
                <a:sym typeface="Agrandir Medium"/>
              </a:rPr>
              <a:t>Reviewing scientific articles to gorund our weights.</a:t>
            </a:r>
          </a:p>
        </p:txBody>
      </p:sp>
      <p:sp>
        <p:nvSpPr>
          <p:cNvPr name="TextBox 28" id="28"/>
          <p:cNvSpPr txBox="true"/>
          <p:nvPr/>
        </p:nvSpPr>
        <p:spPr>
          <a:xfrm rot="0">
            <a:off x="12744824" y="2580918"/>
            <a:ext cx="4185932" cy="443231"/>
          </a:xfrm>
          <a:prstGeom prst="rect">
            <a:avLst/>
          </a:prstGeom>
        </p:spPr>
        <p:txBody>
          <a:bodyPr anchor="t" rtlCol="false" tIns="0" lIns="0" bIns="0" rIns="0">
            <a:spAutoFit/>
          </a:bodyPr>
          <a:lstStyle/>
          <a:p>
            <a:pPr algn="ctr" marL="0" indent="0" lvl="0">
              <a:lnSpc>
                <a:spcPts val="3259"/>
              </a:lnSpc>
              <a:spcBef>
                <a:spcPct val="0"/>
              </a:spcBef>
            </a:pPr>
            <a:r>
              <a:rPr lang="en-US" b="true" sz="1999">
                <a:solidFill>
                  <a:srgbClr val="303030"/>
                </a:solidFill>
                <a:latin typeface="Agrandir Medium"/>
                <a:ea typeface="Agrandir Medium"/>
                <a:cs typeface="Agrandir Medium"/>
                <a:sym typeface="Agrandir Medium"/>
              </a:rPr>
              <a:t>Warning sign</a:t>
            </a:r>
          </a:p>
        </p:txBody>
      </p:sp>
      <p:sp>
        <p:nvSpPr>
          <p:cNvPr name="TextBox 29" id="29"/>
          <p:cNvSpPr txBox="true"/>
          <p:nvPr/>
        </p:nvSpPr>
        <p:spPr>
          <a:xfrm rot="0">
            <a:off x="12745860" y="7488308"/>
            <a:ext cx="4185932" cy="443229"/>
          </a:xfrm>
          <a:prstGeom prst="rect">
            <a:avLst/>
          </a:prstGeom>
        </p:spPr>
        <p:txBody>
          <a:bodyPr anchor="t" rtlCol="false" tIns="0" lIns="0" bIns="0" rIns="0">
            <a:spAutoFit/>
          </a:bodyPr>
          <a:lstStyle/>
          <a:p>
            <a:pPr algn="ctr" marL="0" indent="0" lvl="0">
              <a:lnSpc>
                <a:spcPts val="3260"/>
              </a:lnSpc>
              <a:spcBef>
                <a:spcPct val="0"/>
              </a:spcBef>
            </a:pPr>
            <a:r>
              <a:rPr lang="en-US" b="true" sz="2000">
                <a:solidFill>
                  <a:srgbClr val="303030"/>
                </a:solidFill>
                <a:latin typeface="Agrandir Medium"/>
                <a:ea typeface="Agrandir Medium"/>
                <a:cs typeface="Agrandir Medium"/>
                <a:sym typeface="Agrandir Medium"/>
              </a:rPr>
              <a:t>Simple HTML page with a form</a:t>
            </a:r>
          </a:p>
        </p:txBody>
      </p:sp>
      <p:sp>
        <p:nvSpPr>
          <p:cNvPr name="TextBox 30" id="30"/>
          <p:cNvSpPr txBox="true"/>
          <p:nvPr/>
        </p:nvSpPr>
        <p:spPr>
          <a:xfrm rot="0">
            <a:off x="1301130" y="7070812"/>
            <a:ext cx="4185932" cy="443229"/>
          </a:xfrm>
          <a:prstGeom prst="rect">
            <a:avLst/>
          </a:prstGeom>
        </p:spPr>
        <p:txBody>
          <a:bodyPr anchor="t" rtlCol="false" tIns="0" lIns="0" bIns="0" rIns="0">
            <a:spAutoFit/>
          </a:bodyPr>
          <a:lstStyle/>
          <a:p>
            <a:pPr algn="ctr" marL="0" indent="0" lvl="0">
              <a:lnSpc>
                <a:spcPts val="3260"/>
              </a:lnSpc>
              <a:spcBef>
                <a:spcPct val="0"/>
              </a:spcBef>
            </a:pPr>
            <a:r>
              <a:rPr lang="en-US" b="true" sz="2000">
                <a:solidFill>
                  <a:srgbClr val="303030"/>
                </a:solidFill>
                <a:latin typeface="Agrandir Medium"/>
                <a:ea typeface="Agrandir Medium"/>
                <a:cs typeface="Agrandir Medium"/>
                <a:sym typeface="Agrandir Medium"/>
              </a:rPr>
              <a:t>Expert Evaluation</a:t>
            </a:r>
          </a:p>
        </p:txBody>
      </p:sp>
      <p:sp>
        <p:nvSpPr>
          <p:cNvPr name="TextBox 31" id="31"/>
          <p:cNvSpPr txBox="true"/>
          <p:nvPr/>
        </p:nvSpPr>
        <p:spPr>
          <a:xfrm rot="0">
            <a:off x="1301130" y="7764098"/>
            <a:ext cx="4185932" cy="443229"/>
          </a:xfrm>
          <a:prstGeom prst="rect">
            <a:avLst/>
          </a:prstGeom>
        </p:spPr>
        <p:txBody>
          <a:bodyPr anchor="t" rtlCol="false" tIns="0" lIns="0" bIns="0" rIns="0">
            <a:spAutoFit/>
          </a:bodyPr>
          <a:lstStyle/>
          <a:p>
            <a:pPr algn="ctr" marL="0" indent="0" lvl="0">
              <a:lnSpc>
                <a:spcPts val="3260"/>
              </a:lnSpc>
              <a:spcBef>
                <a:spcPct val="0"/>
              </a:spcBef>
            </a:pPr>
            <a:r>
              <a:rPr lang="en-US" b="true" sz="2000">
                <a:solidFill>
                  <a:srgbClr val="303030"/>
                </a:solidFill>
                <a:latin typeface="Agrandir Medium"/>
                <a:ea typeface="Agrandir Medium"/>
                <a:cs typeface="Agrandir Medium"/>
                <a:sym typeface="Agrandir Medium"/>
              </a:rPr>
              <a:t>User Evaluation</a:t>
            </a:r>
          </a:p>
        </p:txBody>
      </p:sp>
      <p:sp>
        <p:nvSpPr>
          <p:cNvPr name="Freeform 32" id="32"/>
          <p:cNvSpPr/>
          <p:nvPr/>
        </p:nvSpPr>
        <p:spPr>
          <a:xfrm flipH="false" flipV="false" rot="0">
            <a:off x="1729744" y="6950238"/>
            <a:ext cx="410380" cy="656131"/>
          </a:xfrm>
          <a:custGeom>
            <a:avLst/>
            <a:gdLst/>
            <a:ahLst/>
            <a:cxnLst/>
            <a:rect r="r" b="b" t="t" l="l"/>
            <a:pathLst>
              <a:path h="656131" w="410380">
                <a:moveTo>
                  <a:pt x="0" y="0"/>
                </a:moveTo>
                <a:lnTo>
                  <a:pt x="410380" y="0"/>
                </a:lnTo>
                <a:lnTo>
                  <a:pt x="410380" y="656131"/>
                </a:lnTo>
                <a:lnTo>
                  <a:pt x="0" y="656131"/>
                </a:lnTo>
                <a:lnTo>
                  <a:pt x="0" y="0"/>
                </a:lnTo>
                <a:close/>
              </a:path>
            </a:pathLst>
          </a:custGeom>
          <a:blipFill>
            <a:blip r:embed="rId9"/>
            <a:stretch>
              <a:fillRect l="0" t="0" r="0" b="0"/>
            </a:stretch>
          </a:blipFill>
        </p:spPr>
      </p:sp>
      <p:sp>
        <p:nvSpPr>
          <p:cNvPr name="Freeform 33" id="33"/>
          <p:cNvSpPr/>
          <p:nvPr/>
        </p:nvSpPr>
        <p:spPr>
          <a:xfrm flipH="false" flipV="false" rot="0">
            <a:off x="1729744" y="7729084"/>
            <a:ext cx="410380" cy="656131"/>
          </a:xfrm>
          <a:custGeom>
            <a:avLst/>
            <a:gdLst/>
            <a:ahLst/>
            <a:cxnLst/>
            <a:rect r="r" b="b" t="t" l="l"/>
            <a:pathLst>
              <a:path h="656131" w="410380">
                <a:moveTo>
                  <a:pt x="0" y="0"/>
                </a:moveTo>
                <a:lnTo>
                  <a:pt x="410380" y="0"/>
                </a:lnTo>
                <a:lnTo>
                  <a:pt x="410380" y="656131"/>
                </a:lnTo>
                <a:lnTo>
                  <a:pt x="0" y="656131"/>
                </a:lnTo>
                <a:lnTo>
                  <a:pt x="0" y="0"/>
                </a:lnTo>
                <a:close/>
              </a:path>
            </a:pathLst>
          </a:custGeom>
          <a:blipFill>
            <a:blip r:embed="rId9"/>
            <a:stretch>
              <a:fillRect l="0" t="0" r="0" b="0"/>
            </a:stretch>
          </a:blipFill>
        </p:spPr>
      </p:sp>
      <p:sp>
        <p:nvSpPr>
          <p:cNvPr name="Freeform 34" id="34"/>
          <p:cNvSpPr/>
          <p:nvPr/>
        </p:nvSpPr>
        <p:spPr>
          <a:xfrm flipH="false" flipV="false" rot="0">
            <a:off x="12540669" y="7363864"/>
            <a:ext cx="410380" cy="656131"/>
          </a:xfrm>
          <a:custGeom>
            <a:avLst/>
            <a:gdLst/>
            <a:ahLst/>
            <a:cxnLst/>
            <a:rect r="r" b="b" t="t" l="l"/>
            <a:pathLst>
              <a:path h="656131" w="410380">
                <a:moveTo>
                  <a:pt x="0" y="0"/>
                </a:moveTo>
                <a:lnTo>
                  <a:pt x="410381" y="0"/>
                </a:lnTo>
                <a:lnTo>
                  <a:pt x="410381" y="656131"/>
                </a:lnTo>
                <a:lnTo>
                  <a:pt x="0" y="656131"/>
                </a:lnTo>
                <a:lnTo>
                  <a:pt x="0" y="0"/>
                </a:lnTo>
                <a:close/>
              </a:path>
            </a:pathLst>
          </a:custGeom>
          <a:blipFill>
            <a:blip r:embed="rId9"/>
            <a:stretch>
              <a:fillRect l="0" t="0" r="0" b="0"/>
            </a:stretch>
          </a:blipFill>
        </p:spPr>
      </p:sp>
      <p:sp>
        <p:nvSpPr>
          <p:cNvPr name="Freeform 35" id="35"/>
          <p:cNvSpPr/>
          <p:nvPr/>
        </p:nvSpPr>
        <p:spPr>
          <a:xfrm flipH="false" flipV="false" rot="0">
            <a:off x="13353250" y="2497312"/>
            <a:ext cx="410380" cy="656131"/>
          </a:xfrm>
          <a:custGeom>
            <a:avLst/>
            <a:gdLst/>
            <a:ahLst/>
            <a:cxnLst/>
            <a:rect r="r" b="b" t="t" l="l"/>
            <a:pathLst>
              <a:path h="656131" w="410380">
                <a:moveTo>
                  <a:pt x="0" y="0"/>
                </a:moveTo>
                <a:lnTo>
                  <a:pt x="410380" y="0"/>
                </a:lnTo>
                <a:lnTo>
                  <a:pt x="410380" y="656132"/>
                </a:lnTo>
                <a:lnTo>
                  <a:pt x="0" y="656132"/>
                </a:lnTo>
                <a:lnTo>
                  <a:pt x="0" y="0"/>
                </a:lnTo>
                <a:close/>
              </a:path>
            </a:pathLst>
          </a:custGeom>
          <a:blipFill>
            <a:blip r:embed="rId9"/>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6050778" y="454743"/>
            <a:ext cx="885287" cy="1180383"/>
          </a:xfrm>
          <a:custGeom>
            <a:avLst/>
            <a:gdLst/>
            <a:ahLst/>
            <a:cxnLst/>
            <a:rect r="r" b="b" t="t" l="l"/>
            <a:pathLst>
              <a:path h="1180383" w="885287">
                <a:moveTo>
                  <a:pt x="0" y="0"/>
                </a:moveTo>
                <a:lnTo>
                  <a:pt x="885287" y="0"/>
                </a:lnTo>
                <a:lnTo>
                  <a:pt x="885287" y="1180382"/>
                </a:lnTo>
                <a:lnTo>
                  <a:pt x="0" y="11803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64397" y="555625"/>
            <a:ext cx="8520156" cy="1079501"/>
          </a:xfrm>
          <a:prstGeom prst="rect">
            <a:avLst/>
          </a:prstGeom>
        </p:spPr>
        <p:txBody>
          <a:bodyPr anchor="t" rtlCol="false" tIns="0" lIns="0" bIns="0" rIns="0">
            <a:spAutoFit/>
          </a:bodyPr>
          <a:lstStyle/>
          <a:p>
            <a:pPr algn="l">
              <a:lnSpc>
                <a:spcPts val="8000"/>
              </a:lnSpc>
            </a:pPr>
            <a:r>
              <a:rPr lang="en-US" sz="8000" spc="-192">
                <a:solidFill>
                  <a:srgbClr val="CC0000"/>
                </a:solidFill>
                <a:latin typeface="TT Milks Casual 700 One"/>
                <a:ea typeface="TT Milks Casual 700 One"/>
                <a:cs typeface="TT Milks Casual 700 One"/>
                <a:sym typeface="TT Milks Casual 700 One"/>
              </a:rPr>
              <a:t>FEEDBACK</a:t>
            </a:r>
          </a:p>
        </p:txBody>
      </p:sp>
      <p:sp>
        <p:nvSpPr>
          <p:cNvPr name="Freeform 5" id="5"/>
          <p:cNvSpPr/>
          <p:nvPr/>
        </p:nvSpPr>
        <p:spPr>
          <a:xfrm flipH="false" flipV="false" rot="0">
            <a:off x="1028700" y="2174686"/>
            <a:ext cx="3982556" cy="2968814"/>
          </a:xfrm>
          <a:custGeom>
            <a:avLst/>
            <a:gdLst/>
            <a:ahLst/>
            <a:cxnLst/>
            <a:rect r="r" b="b" t="t" l="l"/>
            <a:pathLst>
              <a:path h="2968814" w="3982556">
                <a:moveTo>
                  <a:pt x="0" y="0"/>
                </a:moveTo>
                <a:lnTo>
                  <a:pt x="3982556" y="0"/>
                </a:lnTo>
                <a:lnTo>
                  <a:pt x="3982556" y="2968814"/>
                </a:lnTo>
                <a:lnTo>
                  <a:pt x="0" y="29688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709975" y="2992723"/>
            <a:ext cx="2620006" cy="1137346"/>
          </a:xfrm>
          <a:prstGeom prst="rect">
            <a:avLst/>
          </a:prstGeom>
        </p:spPr>
        <p:txBody>
          <a:bodyPr anchor="t" rtlCol="false" tIns="0" lIns="0" bIns="0" rIns="0">
            <a:spAutoFit/>
          </a:bodyPr>
          <a:lstStyle/>
          <a:p>
            <a:pPr algn="l" marL="0" indent="0" lvl="0">
              <a:lnSpc>
                <a:spcPts val="4433"/>
              </a:lnSpc>
              <a:spcBef>
                <a:spcPct val="0"/>
              </a:spcBef>
            </a:pPr>
            <a:r>
              <a:rPr lang="en-US" sz="2719">
                <a:solidFill>
                  <a:srgbClr val="52532B"/>
                </a:solidFill>
                <a:latin typeface="Frunchy Sage"/>
                <a:ea typeface="Frunchy Sage"/>
                <a:cs typeface="Frunchy Sage"/>
                <a:sym typeface="Frunchy Sage"/>
              </a:rPr>
              <a:t>"More specific exercises could be included."</a:t>
            </a:r>
          </a:p>
        </p:txBody>
      </p:sp>
      <p:sp>
        <p:nvSpPr>
          <p:cNvPr name="Freeform 7" id="7"/>
          <p:cNvSpPr/>
          <p:nvPr/>
        </p:nvSpPr>
        <p:spPr>
          <a:xfrm flipH="true" flipV="false" rot="0">
            <a:off x="7665836" y="3518761"/>
            <a:ext cx="4359055" cy="3249477"/>
          </a:xfrm>
          <a:custGeom>
            <a:avLst/>
            <a:gdLst/>
            <a:ahLst/>
            <a:cxnLst/>
            <a:rect r="r" b="b" t="t" l="l"/>
            <a:pathLst>
              <a:path h="3249477" w="4359055">
                <a:moveTo>
                  <a:pt x="4359055" y="0"/>
                </a:moveTo>
                <a:lnTo>
                  <a:pt x="0" y="0"/>
                </a:lnTo>
                <a:lnTo>
                  <a:pt x="0" y="3249478"/>
                </a:lnTo>
                <a:lnTo>
                  <a:pt x="4359055" y="3249478"/>
                </a:lnTo>
                <a:lnTo>
                  <a:pt x="435905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8411517" y="4419916"/>
            <a:ext cx="2867693" cy="1182509"/>
          </a:xfrm>
          <a:prstGeom prst="rect">
            <a:avLst/>
          </a:prstGeom>
        </p:spPr>
        <p:txBody>
          <a:bodyPr anchor="t" rtlCol="false" tIns="0" lIns="0" bIns="0" rIns="0">
            <a:spAutoFit/>
          </a:bodyPr>
          <a:lstStyle/>
          <a:p>
            <a:pPr algn="l" marL="0" indent="0" lvl="0">
              <a:lnSpc>
                <a:spcPts val="4673"/>
              </a:lnSpc>
              <a:spcBef>
                <a:spcPct val="0"/>
              </a:spcBef>
            </a:pPr>
            <a:r>
              <a:rPr lang="en-US" sz="2867">
                <a:solidFill>
                  <a:srgbClr val="52532B"/>
                </a:solidFill>
                <a:latin typeface="Frunchy Sage"/>
                <a:ea typeface="Frunchy Sage"/>
                <a:cs typeface="Frunchy Sage"/>
                <a:sym typeface="Frunchy Sage"/>
              </a:rPr>
              <a:t>"Add pictures or videos of the exercises."</a:t>
            </a:r>
          </a:p>
        </p:txBody>
      </p:sp>
      <p:sp>
        <p:nvSpPr>
          <p:cNvPr name="Freeform 9" id="9"/>
          <p:cNvSpPr/>
          <p:nvPr/>
        </p:nvSpPr>
        <p:spPr>
          <a:xfrm flipH="false" flipV="false" rot="0">
            <a:off x="2953509" y="5439728"/>
            <a:ext cx="4432676" cy="3304359"/>
          </a:xfrm>
          <a:custGeom>
            <a:avLst/>
            <a:gdLst/>
            <a:ahLst/>
            <a:cxnLst/>
            <a:rect r="r" b="b" t="t" l="l"/>
            <a:pathLst>
              <a:path h="3304359" w="4432676">
                <a:moveTo>
                  <a:pt x="0" y="0"/>
                </a:moveTo>
                <a:lnTo>
                  <a:pt x="4432676" y="0"/>
                </a:lnTo>
                <a:lnTo>
                  <a:pt x="4432676" y="3304359"/>
                </a:lnTo>
                <a:lnTo>
                  <a:pt x="0" y="330435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3686199" y="6119687"/>
            <a:ext cx="2916127" cy="1735740"/>
          </a:xfrm>
          <a:prstGeom prst="rect">
            <a:avLst/>
          </a:prstGeom>
        </p:spPr>
        <p:txBody>
          <a:bodyPr anchor="t" rtlCol="false" tIns="0" lIns="0" bIns="0" rIns="0">
            <a:spAutoFit/>
          </a:bodyPr>
          <a:lstStyle/>
          <a:p>
            <a:pPr algn="l" marL="0" indent="0" lvl="0">
              <a:lnSpc>
                <a:spcPts val="4571"/>
              </a:lnSpc>
              <a:spcBef>
                <a:spcPct val="0"/>
              </a:spcBef>
            </a:pPr>
            <a:r>
              <a:rPr lang="en-US" sz="2804">
                <a:solidFill>
                  <a:srgbClr val="52532B"/>
                </a:solidFill>
                <a:latin typeface="Frunchy Sage"/>
                <a:ea typeface="Frunchy Sage"/>
                <a:cs typeface="Frunchy Sage"/>
                <a:sym typeface="Frunchy Sage"/>
              </a:rPr>
              <a:t>"I would want to enter body fat &amp; medical conditions."</a:t>
            </a:r>
          </a:p>
        </p:txBody>
      </p:sp>
      <p:sp>
        <p:nvSpPr>
          <p:cNvPr name="Freeform 11" id="11"/>
          <p:cNvSpPr/>
          <p:nvPr/>
        </p:nvSpPr>
        <p:spPr>
          <a:xfrm flipH="true" flipV="false" rot="0">
            <a:off x="12754662" y="1028700"/>
            <a:ext cx="4504638" cy="3349395"/>
          </a:xfrm>
          <a:custGeom>
            <a:avLst/>
            <a:gdLst/>
            <a:ahLst/>
            <a:cxnLst/>
            <a:rect r="r" b="b" t="t" l="l"/>
            <a:pathLst>
              <a:path h="3349395" w="4504638">
                <a:moveTo>
                  <a:pt x="4504638" y="0"/>
                </a:moveTo>
                <a:lnTo>
                  <a:pt x="0" y="0"/>
                </a:lnTo>
                <a:lnTo>
                  <a:pt x="0" y="3349395"/>
                </a:lnTo>
                <a:lnTo>
                  <a:pt x="4504638" y="3349395"/>
                </a:lnTo>
                <a:lnTo>
                  <a:pt x="4504638" y="0"/>
                </a:lnTo>
                <a:close/>
              </a:path>
            </a:pathLst>
          </a:custGeom>
          <a:blipFill>
            <a:blip r:embed="rId11">
              <a:extLst>
                <a:ext uri="{96DAC541-7B7A-43D3-8B79-37D633B846F1}">
                  <asvg:svgBlip xmlns:asvg="http://schemas.microsoft.com/office/drawing/2016/SVG/main" r:embed="rId12"/>
                </a:ext>
              </a:extLst>
            </a:blip>
            <a:stretch>
              <a:fillRect l="0" t="0" r="0" b="-257"/>
            </a:stretch>
          </a:blipFill>
        </p:spPr>
      </p:sp>
      <p:sp>
        <p:nvSpPr>
          <p:cNvPr name="TextBox 12" id="12"/>
          <p:cNvSpPr txBox="true"/>
          <p:nvPr/>
        </p:nvSpPr>
        <p:spPr>
          <a:xfrm rot="0">
            <a:off x="13745746" y="1856262"/>
            <a:ext cx="2620006" cy="1506154"/>
          </a:xfrm>
          <a:prstGeom prst="rect">
            <a:avLst/>
          </a:prstGeom>
        </p:spPr>
        <p:txBody>
          <a:bodyPr anchor="t" rtlCol="false" tIns="0" lIns="0" bIns="0" rIns="0">
            <a:spAutoFit/>
          </a:bodyPr>
          <a:lstStyle/>
          <a:p>
            <a:pPr algn="l">
              <a:lnSpc>
                <a:spcPts val="3944"/>
              </a:lnSpc>
            </a:pPr>
            <a:r>
              <a:rPr lang="en-US" sz="2419">
                <a:solidFill>
                  <a:srgbClr val="52532B"/>
                </a:solidFill>
                <a:latin typeface="Frunchy Sage"/>
                <a:ea typeface="Frunchy Sage"/>
                <a:cs typeface="Frunchy Sage"/>
                <a:sym typeface="Frunchy Sage"/>
              </a:rPr>
              <a:t>"Starting at 1 is misleading — I had no way to say zero</a:t>
            </a:r>
          </a:p>
          <a:p>
            <a:pPr algn="l" marL="0" indent="0" lvl="0">
              <a:lnSpc>
                <a:spcPts val="3944"/>
              </a:lnSpc>
              <a:spcBef>
                <a:spcPct val="0"/>
              </a:spcBef>
            </a:pPr>
            <a:r>
              <a:rPr lang="en-US" sz="2419">
                <a:solidFill>
                  <a:srgbClr val="52532B"/>
                </a:solidFill>
                <a:latin typeface="Frunchy Sage"/>
                <a:ea typeface="Frunchy Sage"/>
                <a:cs typeface="Frunchy Sage"/>
                <a:sym typeface="Frunchy Sage"/>
              </a:rPr>
              <a:t>priority."</a:t>
            </a:r>
          </a:p>
        </p:txBody>
      </p:sp>
      <p:sp>
        <p:nvSpPr>
          <p:cNvPr name="Freeform 13" id="13"/>
          <p:cNvSpPr/>
          <p:nvPr/>
        </p:nvSpPr>
        <p:spPr>
          <a:xfrm flipH="false" flipV="false" rot="0">
            <a:off x="13276744" y="5422994"/>
            <a:ext cx="3982556" cy="2968814"/>
          </a:xfrm>
          <a:custGeom>
            <a:avLst/>
            <a:gdLst/>
            <a:ahLst/>
            <a:cxnLst/>
            <a:rect r="r" b="b" t="t" l="l"/>
            <a:pathLst>
              <a:path h="2968814" w="3982556">
                <a:moveTo>
                  <a:pt x="0" y="0"/>
                </a:moveTo>
                <a:lnTo>
                  <a:pt x="3982556" y="0"/>
                </a:lnTo>
                <a:lnTo>
                  <a:pt x="3982556" y="2968814"/>
                </a:lnTo>
                <a:lnTo>
                  <a:pt x="0" y="296881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4" id="14"/>
          <p:cNvSpPr txBox="true"/>
          <p:nvPr/>
        </p:nvSpPr>
        <p:spPr>
          <a:xfrm rot="0">
            <a:off x="13958019" y="6241031"/>
            <a:ext cx="2620006" cy="1137346"/>
          </a:xfrm>
          <a:prstGeom prst="rect">
            <a:avLst/>
          </a:prstGeom>
        </p:spPr>
        <p:txBody>
          <a:bodyPr anchor="t" rtlCol="false" tIns="0" lIns="0" bIns="0" rIns="0">
            <a:spAutoFit/>
          </a:bodyPr>
          <a:lstStyle/>
          <a:p>
            <a:pPr algn="l" marL="0" indent="0" lvl="0">
              <a:lnSpc>
                <a:spcPts val="4433"/>
              </a:lnSpc>
              <a:spcBef>
                <a:spcPct val="0"/>
              </a:spcBef>
            </a:pPr>
            <a:r>
              <a:rPr lang="en-US" sz="2719">
                <a:solidFill>
                  <a:srgbClr val="52532B"/>
                </a:solidFill>
                <a:latin typeface="Frunchy Sage"/>
                <a:ea typeface="Frunchy Sage"/>
                <a:cs typeface="Frunchy Sage"/>
                <a:sym typeface="Frunchy Sage"/>
              </a:rPr>
              <a:t>"Easy to use and nice to look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8576" t="0" r="8576" b="0"/>
          <a:stretch>
            <a:fillRect/>
          </a:stretch>
        </p:blipFill>
        <p:spPr>
          <a:xfrm flipH="false" flipV="false">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83416" t="0" r="-83416" b="0"/>
            </a:stretch>
          </a:blipFill>
        </p:spPr>
      </p:sp>
      <p:sp>
        <p:nvSpPr>
          <p:cNvPr name="Freeform 3" id="3"/>
          <p:cNvSpPr/>
          <p:nvPr/>
        </p:nvSpPr>
        <p:spPr>
          <a:xfrm flipH="false" flipV="false" rot="0">
            <a:off x="12496043" y="8985429"/>
            <a:ext cx="6517111" cy="2916407"/>
          </a:xfrm>
          <a:custGeom>
            <a:avLst/>
            <a:gdLst/>
            <a:ahLst/>
            <a:cxnLst/>
            <a:rect r="r" b="b" t="t" l="l"/>
            <a:pathLst>
              <a:path h="2916407" w="6517111">
                <a:moveTo>
                  <a:pt x="0" y="0"/>
                </a:moveTo>
                <a:lnTo>
                  <a:pt x="6517111" y="0"/>
                </a:lnTo>
                <a:lnTo>
                  <a:pt x="6517111" y="2916407"/>
                </a:lnTo>
                <a:lnTo>
                  <a:pt x="0" y="29164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34967" y="-743084"/>
            <a:ext cx="6670249" cy="1592522"/>
          </a:xfrm>
          <a:custGeom>
            <a:avLst/>
            <a:gdLst/>
            <a:ahLst/>
            <a:cxnLst/>
            <a:rect r="r" b="b" t="t" l="l"/>
            <a:pathLst>
              <a:path h="1592522" w="6670249">
                <a:moveTo>
                  <a:pt x="0" y="0"/>
                </a:moveTo>
                <a:lnTo>
                  <a:pt x="6670249" y="0"/>
                </a:lnTo>
                <a:lnTo>
                  <a:pt x="6670249" y="1592522"/>
                </a:lnTo>
                <a:lnTo>
                  <a:pt x="0" y="1592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259300" y="741599"/>
            <a:ext cx="2446977" cy="2939311"/>
          </a:xfrm>
          <a:custGeom>
            <a:avLst/>
            <a:gdLst/>
            <a:ahLst/>
            <a:cxnLst/>
            <a:rect r="r" b="b" t="t" l="l"/>
            <a:pathLst>
              <a:path h="2939311" w="2446977">
                <a:moveTo>
                  <a:pt x="0" y="0"/>
                </a:moveTo>
                <a:lnTo>
                  <a:pt x="2446977" y="0"/>
                </a:lnTo>
                <a:lnTo>
                  <a:pt x="2446977" y="2939311"/>
                </a:lnTo>
                <a:lnTo>
                  <a:pt x="0" y="29393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6435782" y="435819"/>
            <a:ext cx="5416435" cy="827237"/>
          </a:xfrm>
          <a:custGeom>
            <a:avLst/>
            <a:gdLst/>
            <a:ahLst/>
            <a:cxnLst/>
            <a:rect r="r" b="b" t="t" l="l"/>
            <a:pathLst>
              <a:path h="827237" w="5416435">
                <a:moveTo>
                  <a:pt x="0" y="0"/>
                </a:moveTo>
                <a:lnTo>
                  <a:pt x="5416436" y="0"/>
                </a:lnTo>
                <a:lnTo>
                  <a:pt x="5416436" y="827238"/>
                </a:lnTo>
                <a:lnTo>
                  <a:pt x="0" y="8272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838772" y="9401321"/>
            <a:ext cx="6242672" cy="1771358"/>
          </a:xfrm>
          <a:custGeom>
            <a:avLst/>
            <a:gdLst/>
            <a:ahLst/>
            <a:cxnLst/>
            <a:rect r="r" b="b" t="t" l="l"/>
            <a:pathLst>
              <a:path h="1771358" w="6242672">
                <a:moveTo>
                  <a:pt x="0" y="0"/>
                </a:moveTo>
                <a:lnTo>
                  <a:pt x="6242672" y="0"/>
                </a:lnTo>
                <a:lnTo>
                  <a:pt x="6242672" y="1771358"/>
                </a:lnTo>
                <a:lnTo>
                  <a:pt x="0" y="17713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4781314" y="9258300"/>
            <a:ext cx="5746817" cy="2643536"/>
          </a:xfrm>
          <a:custGeom>
            <a:avLst/>
            <a:gdLst/>
            <a:ahLst/>
            <a:cxnLst/>
            <a:rect r="r" b="b" t="t" l="l"/>
            <a:pathLst>
              <a:path h="2643536" w="5746817">
                <a:moveTo>
                  <a:pt x="0" y="0"/>
                </a:moveTo>
                <a:lnTo>
                  <a:pt x="5746817" y="0"/>
                </a:lnTo>
                <a:lnTo>
                  <a:pt x="5746817" y="2643536"/>
                </a:lnTo>
                <a:lnTo>
                  <a:pt x="0" y="26435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10800000">
            <a:off x="13157143" y="-2818138"/>
            <a:ext cx="3866169" cy="3846838"/>
          </a:xfrm>
          <a:custGeom>
            <a:avLst/>
            <a:gdLst/>
            <a:ahLst/>
            <a:cxnLst/>
            <a:rect r="r" b="b" t="t" l="l"/>
            <a:pathLst>
              <a:path h="3846838" w="3866169">
                <a:moveTo>
                  <a:pt x="0" y="0"/>
                </a:moveTo>
                <a:lnTo>
                  <a:pt x="3866169" y="0"/>
                </a:lnTo>
                <a:lnTo>
                  <a:pt x="3866169" y="3846838"/>
                </a:lnTo>
                <a:lnTo>
                  <a:pt x="0" y="38468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4241867" y="1416472"/>
            <a:ext cx="5746817" cy="2643536"/>
          </a:xfrm>
          <a:custGeom>
            <a:avLst/>
            <a:gdLst/>
            <a:ahLst/>
            <a:cxnLst/>
            <a:rect r="r" b="b" t="t" l="l"/>
            <a:pathLst>
              <a:path h="2643536" w="5746817">
                <a:moveTo>
                  <a:pt x="0" y="0"/>
                </a:moveTo>
                <a:lnTo>
                  <a:pt x="5746817" y="0"/>
                </a:lnTo>
                <a:lnTo>
                  <a:pt x="5746817" y="2643536"/>
                </a:lnTo>
                <a:lnTo>
                  <a:pt x="0" y="26435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TextBox 11" id="11"/>
          <p:cNvSpPr txBox="true"/>
          <p:nvPr/>
        </p:nvSpPr>
        <p:spPr>
          <a:xfrm rot="0">
            <a:off x="4354746" y="2402205"/>
            <a:ext cx="9578507" cy="5920740"/>
          </a:xfrm>
          <a:prstGeom prst="rect">
            <a:avLst/>
          </a:prstGeom>
        </p:spPr>
        <p:txBody>
          <a:bodyPr anchor="t" rtlCol="false" tIns="0" lIns="0" bIns="0" rIns="0">
            <a:spAutoFit/>
          </a:bodyPr>
          <a:lstStyle/>
          <a:p>
            <a:pPr algn="ctr">
              <a:lnSpc>
                <a:spcPts val="15180"/>
              </a:lnSpc>
            </a:pPr>
            <a:r>
              <a:rPr lang="en-US" sz="16500" spc="-940">
                <a:solidFill>
                  <a:srgbClr val="FFFFFF"/>
                </a:solidFill>
                <a:latin typeface="TT Milks Casual 700 One"/>
                <a:ea typeface="TT Milks Casual 700 One"/>
                <a:cs typeface="TT Milks Casual 700 One"/>
                <a:sym typeface="TT Milks Casual 700 One"/>
              </a:rPr>
              <a:t>THANK YOU VERY MUCH!</a:t>
            </a:r>
          </a:p>
        </p:txBody>
      </p:sp>
      <p:sp>
        <p:nvSpPr>
          <p:cNvPr name="Freeform 12" id="12"/>
          <p:cNvSpPr/>
          <p:nvPr/>
        </p:nvSpPr>
        <p:spPr>
          <a:xfrm flipH="false" flipV="false" rot="0">
            <a:off x="15414591" y="6341893"/>
            <a:ext cx="5746817" cy="2643536"/>
          </a:xfrm>
          <a:custGeom>
            <a:avLst/>
            <a:gdLst/>
            <a:ahLst/>
            <a:cxnLst/>
            <a:rect r="r" b="b" t="t" l="l"/>
            <a:pathLst>
              <a:path h="2643536" w="5746817">
                <a:moveTo>
                  <a:pt x="0" y="0"/>
                </a:moveTo>
                <a:lnTo>
                  <a:pt x="5746818" y="0"/>
                </a:lnTo>
                <a:lnTo>
                  <a:pt x="5746818" y="2643536"/>
                </a:lnTo>
                <a:lnTo>
                  <a:pt x="0" y="26435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DAHK5dt_EY4</dc:identifier>
  <dcterms:modified xsi:type="dcterms:W3CDTF">2011-08-01T06:04:30Z</dcterms:modified>
  <cp:revision>1</cp:revision>
  <dc:title>Fuzzy exercise assistant</dc:title>
</cp:coreProperties>
</file>